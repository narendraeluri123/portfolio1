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8e80db7c7a6c4f9c" /><Relationship Type="http://schemas.openxmlformats.org/package/2006/relationships/metadata/core-properties" Target="/docProps/core.xml" Id="R6c3ca06c77f64944" /><Relationship Type="http://schemas.openxmlformats.org/officeDocument/2006/relationships/extended-properties" Target="/docProps/app.xml" Id="R0b12d337a6884e9c" /><Relationship Type="http://schemas.openxmlformats.org/officeDocument/2006/relationships/custom-properties" Target="/docProps/custom.xml" Id="R188fe7504a124a97"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ca0ca747917a417f"/>
  </p:notesMasterIdLst>
  <p:sldIdLst>
    <p:sldId id="256" r:id="R3051b686e2af4c7f"/>
    <p:sldId id="257" r:id="R08dc17d9e0f644f8"/>
    <p:sldId id="258" r:id="R2ce6ca64a0d041c8"/>
    <p:sldId id="259" r:id="R4e7442ee620248ba"/>
    <p:sldId id="260" r:id="R0d04925e428b4f0d"/>
    <p:sldId id="261" r:id="R57d05c9af185429d"/>
    <p:sldId id="262" r:id="R037d0b4680b34016"/>
    <p:sldId id="263" r:id="Raf54e2707e734409"/>
    <p:sldId id="264" r:id="R63674d0329d74f40"/>
    <p:sldId id="265" r:id="R448354cc7b4d486f"/>
    <p:sldId id="266" r:id="R9fcc7790eba04cd6"/>
    <p:sldId id="267" r:id="Rb66f7186e8be410b"/>
    <p:sldId id="268" r:id="R66e035d73c82434f"/>
    <p:sldId id="269" r:id="Rc0ea53176b1f4816"/>
    <p:sldId id="270" r:id="Rd293e4d44a5d47c2"/>
    <p:sldId id="271" r:id="R803068887125489e"/>
    <p:sldId id="272" r:id="Rfd6c9463ae9c476d"/>
    <p:sldId id="273" r:id="Rcd51d581c78f4ee5"/>
    <p:sldId id="274" r:id="Ra42efe3910934433"/>
    <p:sldId id="275" r:id="R906059c2f7e54e54"/>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3051b686e2af4c7f" /><Relationship Type="http://schemas.openxmlformats.org/officeDocument/2006/relationships/notesMaster" Target="/ppt/notesMasters/notesMaster1.xml" Id="Rca0ca747917a417f" /><Relationship Type="http://schemas.openxmlformats.org/officeDocument/2006/relationships/slide" Target="/ppt/slides/slide2.xml" Id="R08dc17d9e0f644f8" /><Relationship Type="http://schemas.openxmlformats.org/officeDocument/2006/relationships/slide" Target="/ppt/slides/slide3.xml" Id="R2ce6ca64a0d041c8" /><Relationship Type="http://schemas.openxmlformats.org/officeDocument/2006/relationships/slide" Target="/ppt/slides/slide4.xml" Id="R4e7442ee620248ba" /><Relationship Type="http://schemas.openxmlformats.org/officeDocument/2006/relationships/slide" Target="/ppt/slides/slide5.xml" Id="R0d04925e428b4f0d" /><Relationship Type="http://schemas.openxmlformats.org/officeDocument/2006/relationships/slide" Target="/ppt/slides/slide6.xml" Id="R57d05c9af185429d" /><Relationship Type="http://schemas.openxmlformats.org/officeDocument/2006/relationships/slide" Target="/ppt/slides/slide7.xml" Id="R037d0b4680b34016" /><Relationship Type="http://schemas.openxmlformats.org/officeDocument/2006/relationships/slide" Target="/ppt/slides/slide8.xml" Id="Raf54e2707e734409" /><Relationship Type="http://schemas.openxmlformats.org/officeDocument/2006/relationships/slide" Target="/ppt/slides/slide9.xml" Id="R63674d0329d74f40" /><Relationship Type="http://schemas.openxmlformats.org/officeDocument/2006/relationships/slide" Target="/ppt/slides/slide10.xml" Id="R448354cc7b4d486f" /><Relationship Type="http://schemas.openxmlformats.org/officeDocument/2006/relationships/slide" Target="/ppt/slides/slide11.xml" Id="R9fcc7790eba04cd6" /><Relationship Type="http://schemas.openxmlformats.org/officeDocument/2006/relationships/slide" Target="/ppt/slides/slide12.xml" Id="Rb66f7186e8be410b" /><Relationship Type="http://schemas.openxmlformats.org/officeDocument/2006/relationships/slide" Target="/ppt/slides/slide13.xml" Id="R66e035d73c82434f" /><Relationship Type="http://schemas.openxmlformats.org/officeDocument/2006/relationships/slide" Target="/ppt/slides/slide14.xml" Id="Rc0ea53176b1f4816" /><Relationship Type="http://schemas.openxmlformats.org/officeDocument/2006/relationships/slide" Target="/ppt/slides/slide15.xml" Id="Rd293e4d44a5d47c2" /><Relationship Type="http://schemas.openxmlformats.org/officeDocument/2006/relationships/slide" Target="/ppt/slides/slide16.xml" Id="R803068887125489e" /><Relationship Type="http://schemas.openxmlformats.org/officeDocument/2006/relationships/slide" Target="/ppt/slides/slide17.xml" Id="Rfd6c9463ae9c476d" /><Relationship Type="http://schemas.openxmlformats.org/officeDocument/2006/relationships/slide" Target="/ppt/slides/slide18.xml" Id="Rcd51d581c78f4ee5" /><Relationship Type="http://schemas.openxmlformats.org/officeDocument/2006/relationships/slide" Target="/ppt/slides/slide19.xml" Id="Ra42efe3910934433" /><Relationship Type="http://schemas.openxmlformats.org/officeDocument/2006/relationships/slide" Target="/ppt/slides/slide20.xml" Id="R906059c2f7e54e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d91967425494dcd"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c3be7bdaa2bd40d5" /><Relationship Type="http://schemas.openxmlformats.org/officeDocument/2006/relationships/slide" Target="/ppt/slides/slide1.xml" Id="R65fabb31dc5744c6"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a8fe4e1a123944cb" /><Relationship Type="http://schemas.openxmlformats.org/officeDocument/2006/relationships/slide" Target="/ppt/slides/slide2.xml" Id="Reac58480c9f14c3d"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3b0b7c7f9bbe4f4d" /><Relationship Type="http://schemas.openxmlformats.org/officeDocument/2006/relationships/slide" Target="/ppt/slides/slide3.xml" Id="Re7c34717fbf340a5"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a4619e530b804684" /><Relationship Type="http://schemas.openxmlformats.org/officeDocument/2006/relationships/slide" Target="/ppt/slides/slide4.xml" Id="R28db5da050584a84"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3bd5ba24a7054269" /><Relationship Type="http://schemas.openxmlformats.org/officeDocument/2006/relationships/slide" Target="/ppt/slides/slide5.xml" Id="R38e033516d0b429c"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172a793a14c34306" /><Relationship Type="http://schemas.openxmlformats.org/officeDocument/2006/relationships/slide" Target="/ppt/slides/slide6.xml" Id="R3fce79846c1a45e2"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2c57c000838a42cd" /><Relationship Type="http://schemas.openxmlformats.org/officeDocument/2006/relationships/slide" Target="/ppt/slides/slide7.xml" Id="Rb2bf1b142209486b"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1dd529a157b346d9" /><Relationship Type="http://schemas.openxmlformats.org/officeDocument/2006/relationships/slide" Target="/ppt/slides/slide8.xml" Id="Rec12bdbe4ee1443d"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df7040a38e164fd2" /><Relationship Type="http://schemas.openxmlformats.org/officeDocument/2006/relationships/slide" Target="/ppt/slides/slide9.xml" Id="R8c9a2b270c76427b"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e7e5bfb3c8264a2d" /><Relationship Type="http://schemas.openxmlformats.org/officeDocument/2006/relationships/slide" Target="/ppt/slides/slide10.xml" Id="R7eb150a9e8b848f8"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40eb6e1686cb49a0" /><Relationship Type="http://schemas.openxmlformats.org/officeDocument/2006/relationships/slide" Target="/ppt/slides/slide11.xml" Id="R5ae5ca57331d4f36"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b64dd8704c2744e5" /><Relationship Type="http://schemas.openxmlformats.org/officeDocument/2006/relationships/slide" Target="/ppt/slides/slide12.xml" Id="R51523557eed34776"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58f88fc57ba24a94" /><Relationship Type="http://schemas.openxmlformats.org/officeDocument/2006/relationships/slide" Target="/ppt/slides/slide13.xml" Id="Rae8d5a9307d84379"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8bf1e32494234304" /><Relationship Type="http://schemas.openxmlformats.org/officeDocument/2006/relationships/slide" Target="/ppt/slides/slide14.xml" Id="Raf7b880018ff457d"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29c3e7d135ab4b82" /><Relationship Type="http://schemas.openxmlformats.org/officeDocument/2006/relationships/slide" Target="/ppt/slides/slide15.xml" Id="Reedd9e26dbb14993"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a80a40af4c294cf6" /><Relationship Type="http://schemas.openxmlformats.org/officeDocument/2006/relationships/slide" Target="/ppt/slides/slide16.xml" Id="Rc2b4a7f8557642c3"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ac9d473359324fc6" /><Relationship Type="http://schemas.openxmlformats.org/officeDocument/2006/relationships/slide" Target="/ppt/slides/slide17.xml" Id="Re029c80863614ead"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f71885c3dd0b44ad" /><Relationship Type="http://schemas.openxmlformats.org/officeDocument/2006/relationships/slide" Target="/ppt/slides/slide18.xml" Id="Ra2353aff9fdb4340"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d6701ba5b4844598" /><Relationship Type="http://schemas.openxmlformats.org/officeDocument/2006/relationships/slide" Target="/ppt/slides/slide19.xml" Id="Rf5a8fee8ab634cc7"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3bff27a63da9476e" /><Relationship Type="http://schemas.openxmlformats.org/officeDocument/2006/relationships/slide" Target="/ppt/slides/slide20.xml" Id="R4e4d0dfce33146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Title slide. Project: Yogesh Kumar Personal Portfolio Website. Powered by IBM Granite Agentic AI. Trainer: Eluri Narendra — Technical Master Trainer in Agentic AI, Machine Learning, and Quantum Computing.</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Agenda slide listing all 20 topics covered in this presentation.</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Project overview: Yogesh Kumar Portfolio with IBM Granite Agentic AI. 8 sections, AI chat, Node.js server, GitHub deployed. Trainer: Eluri Narendra.</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6-Phase Agentic AI SDLC: Requirements, Design, Development, AI Integration, Testing, Deployment. Each phase embeds the 4-pillar agentic loop: Perceive, Plan, Act, Reflect.</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1: Requirements Analysis. 7 functional requirements all HIGH or MEDIUM priority. Non-functional: &lt;2s load, WCAG 2.1, static. AI Agent Goals: Perceive, Plan, Act, Reflect.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2: System Design. Architecture shows static frontend + AI Chat Widget + Node.js proxy to IBM watsonx.ai. 8 UI sections. Structured knowledge base in agent.js.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3: Development. Full tech stack and completed task list. 3,229 lines of code across 10 committed files. Zero vulnerabilities.</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4: IBM Granite AI Integration. 4-phase agentic loop: Perceive, Plan, Act, Reflect. 13 intent handlers. IBM credentials loaded from .env via dotenv.</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5: Testing. All 9 test cases passed. agent.js and server.js syntax validated. 15/15 HTML structural checks passed.</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Phase 6: Deployment. 4 deployment options: direct browser, Node.js server, GitHub Pages, IBM Cloud. 2 commits pushed to NarendraEluri123/Portfolio1.</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Hero section screenshot simulation: Shows navbar with logo and links, hero text with name, role, description, two CTA buttons, avatar with Y initial, stats row, and the floating IBM Granite AI chat button.</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Skills section shows 6 cards: Frontend, Backend, AI/ML, Databases, Cloud/DevOps, Tools. Each card has hover effect and skill tags.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Projects section shows 6 project cards: AI Resume Screener, SmartShop E-Commerce, MedAssist Health Chatbot, DevOps Automation Suite, Portfolio AI Assistant, Quantum ML Experiments.</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Education timeline: B.Tech JNTU 8.4 CGPA, Intermediate 96.2%, SSC 9.8. 6 certifications including IBM watsonx.ai, AWS, Google Cloud, Meta, IBM AI, and Agentic AI Practitioner under Eluri Narendra.</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AI Chat Widget screenshot. Shows chat header, welcome bot message, user asking about skills, Granite AI response with formatted skill categories, suggestion chips, input row, and IBM Granite badge. Annotation shows internal agent state.</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agent.js code walkthrough. GRANITE_CONFIG mirrors .env. perceive() normalizes input. plan() scores 12 intent patterns. reflect() adds tips when confidence &lt; 0.5.</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Server configuration slide. .env has IBM credentials (gitignored). Request flow: browser -&gt; Node proxy -&gt; IBM IAM token -&gt; Granite model. Live health check returns HTTP 200 with all config confirmed.</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GitHub deployment: repository NarendraEluri123/Portfolio1. 2 commits, 3,229 lines. .env and node_modules excluded by .gitignore. GitHub Pages available for free static hosting.</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Trainer Eluri Narendra: Technical Master Trainer. Expert in Agentic AI, Machine Learning, and Quantum Computing. This portfolio is a live reference implementation of the Agentic AI SDLC training.</a:t>
            </a: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Final summary slide. 11 files, 3229 lines, 20 slides, 13 AI intents, 9/9 tests passed. All SDLC phases complete. GitHub deployed. IBM Granite configured and running. Trainer: Eluri Narendra.</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a0e0b1ec614b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e72b81abbc41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1d2c42db404c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15d2158d6f46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097931f64b4dee"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f0435e655bb94e4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200c693d6f34981" /><Relationship Type="http://schemas.openxmlformats.org/officeDocument/2006/relationships/notesSlide" Target="/ppt/notesSlides/notesSlide1.xml" Id="R35bdccd120664a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3ea7a194f14582" /><Relationship Type="http://schemas.openxmlformats.org/officeDocument/2006/relationships/notesSlide" Target="/ppt/notesSlides/notesSlide2.xml" Id="R6f04f9d309aa48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723f4333e041bc" /><Relationship Type="http://schemas.openxmlformats.org/officeDocument/2006/relationships/notesSlide" Target="/ppt/notesSlides/notesSlide3.xml" Id="R93c6287087d046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c6d19c5e4146b2" /><Relationship Type="http://schemas.openxmlformats.org/officeDocument/2006/relationships/notesSlide" Target="/ppt/notesSlides/notesSlide4.xml" Id="R3fdabb1c17e845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6c10c14af94a6e" /><Relationship Type="http://schemas.openxmlformats.org/officeDocument/2006/relationships/notesSlide" Target="/ppt/notesSlides/notesSlide5.xml" Id="Rdd351d18f81b48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67ffbbe9944033" /><Relationship Type="http://schemas.openxmlformats.org/officeDocument/2006/relationships/notesSlide" Target="/ppt/notesSlides/notesSlide6.xml" Id="R665fc1188b8745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0b7af909c84001" /><Relationship Type="http://schemas.openxmlformats.org/officeDocument/2006/relationships/notesSlide" Target="/ppt/notesSlides/notesSlide7.xml" Id="Ra9af42438f3d43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4ad385ac7c4d39" /><Relationship Type="http://schemas.openxmlformats.org/officeDocument/2006/relationships/notesSlide" Target="/ppt/notesSlides/notesSlide8.xml" Id="R010b9b508bff4f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2a5dafb90844e3" /><Relationship Type="http://schemas.openxmlformats.org/officeDocument/2006/relationships/notesSlide" Target="/ppt/notesSlides/notesSlide9.xml" Id="Rc169701d0db74e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62107d2cd94a48" /><Relationship Type="http://schemas.openxmlformats.org/officeDocument/2006/relationships/notesSlide" Target="/ppt/notesSlides/notesSlide10.xml" Id="Rb298bed2b2d24d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f87854da9e4ce5" /><Relationship Type="http://schemas.openxmlformats.org/officeDocument/2006/relationships/notesSlide" Target="/ppt/notesSlides/notesSlide11.xml" Id="R293c061221d14a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75c945893f49db" /><Relationship Type="http://schemas.openxmlformats.org/officeDocument/2006/relationships/notesSlide" Target="/ppt/notesSlides/notesSlide12.xml" Id="Re122aa74389948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70fdaf224f4201" /><Relationship Type="http://schemas.openxmlformats.org/officeDocument/2006/relationships/notesSlide" Target="/ppt/notesSlides/notesSlide13.xml" Id="R46f09598cd3849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77c3ba9c5b4546" /><Relationship Type="http://schemas.openxmlformats.org/officeDocument/2006/relationships/notesSlide" Target="/ppt/notesSlides/notesSlide14.xml" Id="R71e29c3c3a7242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b3d3f4b2fc4239" /><Relationship Type="http://schemas.openxmlformats.org/officeDocument/2006/relationships/notesSlide" Target="/ppt/notesSlides/notesSlide15.xml" Id="R2ba94677559b49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a8ce39e767414e" /><Relationship Type="http://schemas.openxmlformats.org/officeDocument/2006/relationships/notesSlide" Target="/ppt/notesSlides/notesSlide16.xml" Id="Ra404a8108b8147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ef956531ae4ab5" /><Relationship Type="http://schemas.openxmlformats.org/officeDocument/2006/relationships/notesSlide" Target="/ppt/notesSlides/notesSlide17.xml" Id="R3482eac01a3d4f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292446f02e42b3" /><Relationship Type="http://schemas.openxmlformats.org/officeDocument/2006/relationships/notesSlide" Target="/ppt/notesSlides/notesSlide18.xml" Id="Rb8a90e3d562d4ba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d3afeb58c70483f" /><Relationship Type="http://schemas.openxmlformats.org/officeDocument/2006/relationships/notesSlide" Target="/ppt/notesSlides/notesSlide19.xml" Id="R4932916a908d4c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40ca186f414ea2" /><Relationship Type="http://schemas.openxmlformats.org/officeDocument/2006/relationships/notesSlide" Target="/ppt/notesSlides/notesSlide20.xml" Id="R09629861a62a422b"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00" name="Accent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01" name="IBM"/>
          <p:cNvSpPr txBox="1"/>
          <p:nvPr/>
        </p:nvSpPr>
        <p:spPr>
          <a:xfrm xmlns:a="http://schemas.openxmlformats.org/drawingml/2006/main">
            <a:off x="540000" y="432000"/>
            <a:ext cx="1080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00B4D8"/>
                </a:solidFill>
              </a:rPr>
              <a:t>IBM watsonx.ai  |  Agentic AI SDLC</a:t>
            </a:r>
          </a:p>
        </p:txBody>
      </p:sp>
      <p:sp>
        <p:nvSpPr>
          <p:cNvPr id="100002" name="MainTitle"/>
          <p:cNvSpPr txBox="1"/>
          <p:nvPr/>
        </p:nvSpPr>
        <p:spPr>
          <a:xfrm xmlns:a="http://schemas.openxmlformats.org/drawingml/2006/main">
            <a:off x="540000" y="864000"/>
            <a:ext cx="1080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5200" b="1">
                <a:solidFill>
                  <a:srgbClr val="FFFFFF"/>
                </a:solidFill>
                <a:latin typeface="Calibri"/>
                <a:ea typeface="Calibri"/>
              </a:rPr>
              <a:t>Yogesh Kumar</a:t>
            </a:r>
          </a:p>
        </p:txBody>
      </p:sp>
      <p:sp>
        <p:nvSpPr>
          <p:cNvPr id="100003" name="SubTitle"/>
          <p:cNvSpPr txBox="1"/>
          <p:nvPr/>
        </p:nvSpPr>
        <p:spPr>
          <a:xfrm xmlns:a="http://schemas.openxmlformats.org/drawingml/2006/main">
            <a:off x="540000" y="1800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0">
                <a:solidFill>
                  <a:srgbClr val="8892A4"/>
                </a:solidFill>
                <a:latin typeface="Calibri"/>
                <a:ea typeface="Calibri"/>
              </a:rPr>
              <a:t>Personal Portfolio Website</a:t>
            </a:r>
          </a:p>
        </p:txBody>
      </p:sp>
      <p:sp>
        <p:nvSpPr>
          <p:cNvPr id="100004" name="Powered"/>
          <p:cNvSpPr txBox="1"/>
          <p:nvPr/>
        </p:nvSpPr>
        <p:spPr>
          <a:xfrm xmlns:a="http://schemas.openxmlformats.org/drawingml/2006/main">
            <a:off x="540000" y="2376000"/>
            <a:ext cx="1080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F62FE"/>
                </a:solidFill>
              </a:rPr>
              <a:t>Powered by IBM Granite Agentic AI  |  Model: ibm/granite-13b-chat-v2</a:t>
            </a:r>
          </a:p>
        </p:txBody>
      </p:sp>
      <p:sp>
        <p:nvSpPr>
          <p:cNvPr id="100005" name="Divider"/>
          <p:cNvSpPr txBox="1"/>
          <p:nvPr/>
        </p:nvSpPr>
        <p:spPr>
          <a:xfrm xmlns:a="http://schemas.openxmlformats.org/drawingml/2006/main">
            <a:off x="540000" y="2808000"/>
            <a:ext cx="3600000" cy="216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06" name="Trainer"/>
          <p:cNvSpPr txBox="1"/>
          <p:nvPr/>
        </p:nvSpPr>
        <p:spPr>
          <a:xfrm xmlns:a="http://schemas.openxmlformats.org/drawingml/2006/main">
            <a:off x="540000" y="2952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Trainer &amp; Mentor: Eluri Narendra  |  Technical Master Trainer</a:t>
            </a:r>
          </a:p>
        </p:txBody>
      </p:sp>
      <p:sp>
        <p:nvSpPr>
          <p:cNvPr id="100007" name="Expertise"/>
          <p:cNvSpPr txBox="1"/>
          <p:nvPr/>
        </p:nvSpPr>
        <p:spPr>
          <a:xfrm xmlns:a="http://schemas.openxmlformats.org/drawingml/2006/main">
            <a:off x="540000" y="3240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6929C4"/>
                </a:solidFill>
              </a:rPr>
              <a:t>Agentic AI   |   Machine Learning   |   Quantum Computing</a:t>
            </a:r>
          </a:p>
        </p:txBody>
      </p:sp>
      <p:sp>
        <p:nvSpPr>
          <p:cNvPr id="100008" name="Repo"/>
          <p:cNvSpPr txBox="1"/>
          <p:nvPr/>
        </p:nvSpPr>
        <p:spPr>
          <a:xfrm xmlns:a="http://schemas.openxmlformats.org/drawingml/2006/main">
            <a:off x="540000" y="3600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GitHub: https://github.com/NarendraEluri123/Portfolio1</a:t>
            </a:r>
          </a:p>
        </p:txBody>
      </p:sp>
    </p:spTree>
  </p:cSld>
  <p:transition advTm="7500"/>
</p:sld>
</file>

<file path=ppt/slides/slide2.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09"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10" name="Label"/>
          <p:cNvSpPr txBox="1"/>
          <p:nvPr/>
        </p:nvSpPr>
        <p:spPr>
          <a:xfrm xmlns:a="http://schemas.openxmlformats.org/drawingml/2006/main">
            <a:off x="540000" y="252000"/>
            <a:ext cx="36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AGENDA</a:t>
            </a:r>
          </a:p>
        </p:txBody>
      </p:sp>
      <p:sp>
        <p:nvSpPr>
          <p:cNvPr id="100011" name="Title"/>
          <p:cNvSpPr txBox="1"/>
          <p:nvPr/>
        </p:nvSpPr>
        <p:spPr>
          <a:xfrm xmlns:a="http://schemas.openxmlformats.org/drawingml/2006/main">
            <a:off x="540000" y="540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Presentation Outline</a:t>
            </a:r>
          </a:p>
        </p:txBody>
      </p:sp>
      <p:sp>
        <p:nvSpPr>
          <p:cNvPr id="100012" name="Col1"/>
          <p:cNvSpPr txBox="1"/>
          <p:nvPr/>
        </p:nvSpPr>
        <p:spPr>
          <a:xfrm xmlns:a="http://schemas.openxmlformats.org/drawingml/2006/main">
            <a:off x="540000" y="1152000"/>
            <a:ext cx="504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B0BEC5"/>
                </a:solidFill>
              </a:rPr>
              <a:t>01  Project Overview</a:t>
            </a:r>
          </a:p>
          <a:p xmlns:a="http://schemas.openxmlformats.org/drawingml/2006/main">
            <a:r>
              <a:rPr lang="en-US" sz="1700">
                <a:solidFill>
                  <a:srgbClr val="B0BEC5"/>
                </a:solidFill>
              </a:rPr>
              <a:t>02  Agentic AI SDLC</a:t>
            </a:r>
          </a:p>
          <a:p xmlns:a="http://schemas.openxmlformats.org/drawingml/2006/main">
            <a:r>
              <a:rPr lang="en-US" sz="1700">
                <a:solidFill>
                  <a:srgbClr val="B0BEC5"/>
                </a:solidFill>
              </a:rPr>
              <a:t>03  Phase 1 — Requirements</a:t>
            </a:r>
          </a:p>
          <a:p xmlns:a="http://schemas.openxmlformats.org/drawingml/2006/main">
            <a:r>
              <a:rPr lang="en-US" sz="1700">
                <a:solidFill>
                  <a:srgbClr val="B0BEC5"/>
                </a:solidFill>
              </a:rPr>
              <a:t>04  Phase 2 — Design</a:t>
            </a:r>
          </a:p>
          <a:p xmlns:a="http://schemas.openxmlformats.org/drawingml/2006/main">
            <a:r>
              <a:rPr lang="en-US" sz="1700">
                <a:solidFill>
                  <a:srgbClr val="B0BEC5"/>
                </a:solidFill>
              </a:rPr>
              <a:t>05  Phase 3 — Development</a:t>
            </a:r>
          </a:p>
          <a:p xmlns:a="http://schemas.openxmlformats.org/drawingml/2006/main">
            <a:r>
              <a:rPr lang="en-US" sz="1700">
                <a:solidFill>
                  <a:srgbClr val="B0BEC5"/>
                </a:solidFill>
              </a:rPr>
              <a:t>06  Phase 4 — AI Integration</a:t>
            </a:r>
          </a:p>
          <a:p xmlns:a="http://schemas.openxmlformats.org/drawingml/2006/main">
            <a:r>
              <a:rPr lang="en-US" sz="1700">
                <a:solidFill>
                  <a:srgbClr val="B0BEC5"/>
                </a:solidFill>
              </a:rPr>
              <a:t>07  Phase 5 — Testing</a:t>
            </a:r>
          </a:p>
          <a:p xmlns:a="http://schemas.openxmlformats.org/drawingml/2006/main">
            <a:r>
              <a:rPr lang="en-US" sz="1700">
                <a:solidFill>
                  <a:srgbClr val="B0BEC5"/>
                </a:solidFill>
              </a:rPr>
              <a:t>08  Phase 6 — Deployment</a:t>
            </a:r>
          </a:p>
        </p:txBody>
      </p:sp>
      <p:sp>
        <p:nvSpPr>
          <p:cNvPr id="100013" name="Col2"/>
          <p:cNvSpPr txBox="1"/>
          <p:nvPr/>
        </p:nvSpPr>
        <p:spPr>
          <a:xfrm xmlns:a="http://schemas.openxmlformats.org/drawingml/2006/main">
            <a:off x="6120000" y="1152000"/>
            <a:ext cx="504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B0BEC5"/>
                </a:solidFill>
              </a:rPr>
              <a:t>09  Portfolio: Hero &amp; About</a:t>
            </a:r>
          </a:p>
          <a:p xmlns:a="http://schemas.openxmlformats.org/drawingml/2006/main">
            <a:r>
              <a:rPr lang="en-US" sz="1700">
                <a:solidFill>
                  <a:srgbClr val="B0BEC5"/>
                </a:solidFill>
              </a:rPr>
              <a:t>10  Portfolio: Skills</a:t>
            </a:r>
          </a:p>
          <a:p xmlns:a="http://schemas.openxmlformats.org/drawingml/2006/main">
            <a:r>
              <a:rPr lang="en-US" sz="1700">
                <a:solidFill>
                  <a:srgbClr val="B0BEC5"/>
                </a:solidFill>
              </a:rPr>
              <a:t>11  Portfolio: Projects</a:t>
            </a:r>
          </a:p>
          <a:p xmlns:a="http://schemas.openxmlformats.org/drawingml/2006/main">
            <a:r>
              <a:rPr lang="en-US" sz="1700">
                <a:solidFill>
                  <a:srgbClr val="B0BEC5"/>
                </a:solidFill>
              </a:rPr>
              <a:t>12  Portfolio: Education &amp; Certs</a:t>
            </a:r>
          </a:p>
          <a:p xmlns:a="http://schemas.openxmlformats.org/drawingml/2006/main">
            <a:r>
              <a:rPr lang="en-US" sz="1700">
                <a:solidFill>
                  <a:srgbClr val="B0BEC5"/>
                </a:solidFill>
              </a:rPr>
              <a:t>13  IBM Granite AI Chat Widget</a:t>
            </a:r>
          </a:p>
          <a:p xmlns:a="http://schemas.openxmlformats.org/drawingml/2006/main">
            <a:r>
              <a:rPr lang="en-US" sz="1700">
                <a:solidFill>
                  <a:srgbClr val="B0BEC5"/>
                </a:solidFill>
              </a:rPr>
              <a:t>14  Agentic AI Engine Code</a:t>
            </a:r>
          </a:p>
          <a:p xmlns:a="http://schemas.openxmlformats.org/drawingml/2006/main">
            <a:r>
              <a:rPr lang="en-US" sz="1700">
                <a:solidFill>
                  <a:srgbClr val="B0BEC5"/>
                </a:solidFill>
              </a:rPr>
              <a:t>15  GitHub Deployment</a:t>
            </a:r>
          </a:p>
          <a:p xmlns:a="http://schemas.openxmlformats.org/drawingml/2006/main">
            <a:r>
              <a:rPr lang="en-US" sz="1700">
                <a:solidFill>
                  <a:srgbClr val="B0BEC5"/>
                </a:solidFill>
              </a:rPr>
              <a:t>16  Server &amp; .env Config</a:t>
            </a:r>
          </a:p>
          <a:p xmlns:a="http://schemas.openxmlformats.org/drawingml/2006/main">
            <a:r>
              <a:rPr lang="en-US" sz="1700">
                <a:solidFill>
                  <a:srgbClr val="B0BEC5"/>
                </a:solidFill>
              </a:rPr>
              <a:t>17  Tech Stack</a:t>
            </a:r>
          </a:p>
          <a:p xmlns:a="http://schemas.openxmlformats.org/drawingml/2006/main">
            <a:r>
              <a:rPr lang="en-US" sz="1700">
                <a:solidFill>
                  <a:srgbClr val="B0BEC5"/>
                </a:solidFill>
              </a:rPr>
              <a:t>18  Test Results</a:t>
            </a:r>
          </a:p>
          <a:p xmlns:a="http://schemas.openxmlformats.org/drawingml/2006/main">
            <a:r>
              <a:rPr lang="en-US" sz="1700">
                <a:solidFill>
                  <a:srgbClr val="B0BEC5"/>
                </a:solidFill>
              </a:rPr>
              <a:t>19  Trainer: Eluri Narendra</a:t>
            </a:r>
          </a:p>
          <a:p xmlns:a="http://schemas.openxmlformats.org/drawingml/2006/main">
            <a:r>
              <a:rPr lang="en-US" sz="1700">
                <a:solidFill>
                  <a:srgbClr val="B0BEC5"/>
                </a:solidFill>
              </a:rPr>
              <a:t>20  Summary &amp; Live Demo</a:t>
            </a:r>
          </a:p>
        </p:txBody>
      </p:sp>
    </p:spTree>
  </p:cSld>
  <p:transition advTm="7500"/>
</p:sld>
</file>

<file path=ppt/slides/slide3.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14"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15"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PROJECT OVERVIEW</a:t>
            </a:r>
          </a:p>
        </p:txBody>
      </p:sp>
      <p:sp>
        <p:nvSpPr>
          <p:cNvPr id="100016" name="Title"/>
          <p:cNvSpPr txBox="1"/>
          <p:nvPr/>
        </p:nvSpPr>
        <p:spPr>
          <a:xfrm xmlns:a="http://schemas.openxmlformats.org/drawingml/2006/main">
            <a:off x="540000" y="540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What We Built</a:t>
            </a:r>
          </a:p>
        </p:txBody>
      </p:sp>
      <p:sp>
        <p:nvSpPr>
          <p:cNvPr id="100017" name="Desc"/>
          <p:cNvSpPr txBox="1"/>
          <p:nvPr/>
        </p:nvSpPr>
        <p:spPr>
          <a:xfrm xmlns:a="http://schemas.openxmlformats.org/drawingml/2006/main">
            <a:off x="540000" y="1116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8892A4"/>
                </a:solidFill>
              </a:rPr>
              <a:t>A modern, fully responsive personal portfolio website for Yogesh Kumar — Full Stack Developer &amp; AI Enthusiast — enhanced with a real-time Agentic AI assistant powered by IBM Granite (ibm/granite-13b-chat-v2) on IBM watsonx.ai.</a:t>
            </a:r>
          </a:p>
        </p:txBody>
      </p:sp>
      <p:sp>
        <p:nvSpPr>
          <p:cNvPr id="100018" name="Box1"/>
          <p:cNvSpPr txBox="1"/>
          <p:nvPr/>
        </p:nvSpPr>
        <p:spPr>
          <a:xfrm xmlns:a="http://schemas.openxmlformats.org/drawingml/2006/main">
            <a:off x="540000" y="1908000"/>
            <a:ext cx="2160000" cy="9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600" b="1">
                <a:solidFill>
                  <a:srgbClr val="FFFFFF"/>
                </a:solidFill>
              </a:rPr>
              <a:t>8 Portfolio</a:t>
            </a:r>
          </a:p>
          <a:p xmlns:a="http://schemas.openxmlformats.org/drawingml/2006/main">
            <a:r>
              <a:rPr lang="en-US" sz="1600" b="1">
                <a:solidFill>
                  <a:srgbClr val="FFFFFF"/>
                </a:solidFill>
              </a:rPr>
              <a:t>Sections</a:t>
            </a:r>
          </a:p>
        </p:txBody>
      </p:sp>
      <p:sp>
        <p:nvSpPr>
          <p:cNvPr id="100019" name="Box2"/>
          <p:cNvSpPr txBox="1"/>
          <p:nvPr/>
        </p:nvSpPr>
        <p:spPr>
          <a:xfrm xmlns:a="http://schemas.openxmlformats.org/drawingml/2006/main">
            <a:off x="3060000" y="1908000"/>
            <a:ext cx="2160000" cy="900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600" b="1">
                <a:solidFill>
                  <a:srgbClr val="FFFFFF"/>
                </a:solidFill>
              </a:rPr>
              <a:t>IBM Granite</a:t>
            </a:r>
          </a:p>
          <a:p xmlns:a="http://schemas.openxmlformats.org/drawingml/2006/main">
            <a:r>
              <a:rPr lang="en-US" sz="1600" b="1">
                <a:solidFill>
                  <a:srgbClr val="FFFFFF"/>
                </a:solidFill>
              </a:rPr>
              <a:t>AI Chat</a:t>
            </a:r>
          </a:p>
        </p:txBody>
      </p:sp>
      <p:sp>
        <p:nvSpPr>
          <p:cNvPr id="100020" name="Box3"/>
          <p:cNvSpPr txBox="1"/>
          <p:nvPr/>
        </p:nvSpPr>
        <p:spPr>
          <a:xfrm xmlns:a="http://schemas.openxmlformats.org/drawingml/2006/main">
            <a:off x="5580000" y="1908000"/>
            <a:ext cx="2160000" cy="900000"/>
          </a:xfrm>
          <a:prstGeom xmlns:a="http://schemas.openxmlformats.org/drawingml/2006/main" prst="rect">
            <a:avLst/>
          </a:prstGeom>
          <a:solidFill xmlns:a="http://schemas.openxmlformats.org/drawingml/2006/main">
            <a:srgbClr val="1A3A5C"/>
          </a:solidFill>
        </p:spPr>
        <p:txBody>
          <a:bodyPr xmlns:a="http://schemas.openxmlformats.org/drawingml/2006/main"/>
          <a:lstStyle xmlns:a="http://schemas.openxmlformats.org/drawingml/2006/main"/>
          <a:p xmlns:a="http://schemas.openxmlformats.org/drawingml/2006/main">
            <a:r>
              <a:rPr lang="en-US" sz="1600" b="1">
                <a:solidFill>
                  <a:srgbClr val="FFFFFF"/>
                </a:solidFill>
              </a:rPr>
              <a:t>Node.js</a:t>
            </a:r>
          </a:p>
          <a:p xmlns:a="http://schemas.openxmlformats.org/drawingml/2006/main">
            <a:r>
              <a:rPr lang="en-US" sz="1600" b="1">
                <a:solidFill>
                  <a:srgbClr val="FFFFFF"/>
                </a:solidFill>
              </a:rPr>
              <a:t>Proxy Server</a:t>
            </a:r>
          </a:p>
        </p:txBody>
      </p:sp>
      <p:sp>
        <p:nvSpPr>
          <p:cNvPr id="100021" name="Box4"/>
          <p:cNvSpPr txBox="1"/>
          <p:nvPr/>
        </p:nvSpPr>
        <p:spPr>
          <a:xfrm xmlns:a="http://schemas.openxmlformats.org/drawingml/2006/main">
            <a:off x="8100000" y="1908000"/>
            <a:ext cx="2160000" cy="900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r>
              <a:rPr lang="en-US" sz="1600" b="1">
                <a:solidFill>
                  <a:srgbClr val="FFFFFF"/>
                </a:solidFill>
              </a:rPr>
              <a:t>GitHub</a:t>
            </a:r>
          </a:p>
          <a:p xmlns:a="http://schemas.openxmlformats.org/drawingml/2006/main">
            <a:r>
              <a:rPr lang="en-US" sz="1600" b="1">
                <a:solidFill>
                  <a:srgbClr val="FFFFFF"/>
                </a:solidFill>
              </a:rPr>
              <a:t>Deployed</a:t>
            </a:r>
          </a:p>
        </p:txBody>
      </p:sp>
      <p:sp>
        <p:nvSpPr>
          <p:cNvPr id="100022" name="Files"/>
          <p:cNvSpPr txBox="1"/>
          <p:nvPr/>
        </p:nvSpPr>
        <p:spPr>
          <a:xfrm xmlns:a="http://schemas.openxmlformats.org/drawingml/2006/main">
            <a:off x="540000" y="2988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Files:  index.html  |  style.css  |  agent.js  |  server.js  |  .env  |  package.json  |  launch_portfolio.bat  |  README.md  |  .gitignore  |  requirements.txt  |  AGENTIC_AI_SDLC_PLAN.md</a:t>
            </a:r>
          </a:p>
        </p:txBody>
      </p:sp>
      <p:sp>
        <p:nvSpPr>
          <p:cNvPr id="100023" name="Repo"/>
          <p:cNvSpPr txBox="1"/>
          <p:nvPr/>
        </p:nvSpPr>
        <p:spPr>
          <a:xfrm xmlns:a="http://schemas.openxmlformats.org/drawingml/2006/main">
            <a:off x="540000" y="3420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00B4D8"/>
                </a:solidFill>
              </a:rPr>
              <a:t>GitHub: https://github.com/NarendraEluri123/Portfolio1</a:t>
            </a:r>
          </a:p>
        </p:txBody>
      </p:sp>
    </p:spTree>
  </p:cSld>
  <p:transition advTm="7500"/>
</p:sld>
</file>

<file path=ppt/slides/slide4.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24"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25"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AGENTIC AI SDLC</a:t>
            </a:r>
          </a:p>
        </p:txBody>
      </p:sp>
      <p:sp>
        <p:nvSpPr>
          <p:cNvPr id="100026"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6-Phase Agentic AI SDLC</a:t>
            </a:r>
          </a:p>
        </p:txBody>
      </p:sp>
      <p:sp>
        <p:nvSpPr>
          <p:cNvPr id="100027" name="P1"/>
          <p:cNvSpPr txBox="1"/>
          <p:nvPr/>
        </p:nvSpPr>
        <p:spPr>
          <a:xfrm xmlns:a="http://schemas.openxmlformats.org/drawingml/2006/main">
            <a:off x="360000" y="1260000"/>
            <a:ext cx="1620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1</a:t>
            </a:r>
          </a:p>
          <a:p xmlns:a="http://schemas.openxmlformats.org/drawingml/2006/main">
            <a:r>
              <a:rPr lang="en-US" sz="1300" b="1">
                <a:solidFill>
                  <a:srgbClr val="FFFFFF"/>
                </a:solidFill>
              </a:rPr>
              <a:t>Requirements</a:t>
            </a:r>
          </a:p>
          <a:p xmlns:a="http://schemas.openxmlformats.org/drawingml/2006/main">
            <a:r>
              <a:rPr lang="en-US" sz="1300" b="1">
                <a:solidFill>
                  <a:srgbClr val="FFFFFF"/>
                </a:solidFill>
              </a:rPr>
              <a:t>&amp; Planning</a:t>
            </a:r>
          </a:p>
        </p:txBody>
      </p:sp>
      <p:sp>
        <p:nvSpPr>
          <p:cNvPr id="100028" name="P2"/>
          <p:cNvSpPr txBox="1"/>
          <p:nvPr/>
        </p:nvSpPr>
        <p:spPr>
          <a:xfrm xmlns:a="http://schemas.openxmlformats.org/drawingml/2006/main">
            <a:off x="2340000" y="1260000"/>
            <a:ext cx="1620000" cy="1260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2</a:t>
            </a:r>
          </a:p>
          <a:p xmlns:a="http://schemas.openxmlformats.org/drawingml/2006/main">
            <a:r>
              <a:rPr lang="en-US" sz="1300" b="1">
                <a:solidFill>
                  <a:srgbClr val="FFFFFF"/>
                </a:solidFill>
              </a:rPr>
              <a:t>System</a:t>
            </a:r>
          </a:p>
          <a:p xmlns:a="http://schemas.openxmlformats.org/drawingml/2006/main">
            <a:r>
              <a:rPr lang="en-US" sz="1300" b="1">
                <a:solidFill>
                  <a:srgbClr val="FFFFFF"/>
                </a:solidFill>
              </a:rPr>
              <a:t>Design</a:t>
            </a:r>
          </a:p>
        </p:txBody>
      </p:sp>
      <p:sp>
        <p:nvSpPr>
          <p:cNvPr id="100029" name="P3"/>
          <p:cNvSpPr txBox="1"/>
          <p:nvPr/>
        </p:nvSpPr>
        <p:spPr>
          <a:xfrm xmlns:a="http://schemas.openxmlformats.org/drawingml/2006/main">
            <a:off x="4320000" y="1260000"/>
            <a:ext cx="1620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3</a:t>
            </a:r>
          </a:p>
          <a:p xmlns:a="http://schemas.openxmlformats.org/drawingml/2006/main">
            <a:r>
              <a:rPr lang="en-US" sz="1300" b="1">
                <a:solidFill>
                  <a:srgbClr val="FFFFFF"/>
                </a:solidFill>
              </a:rPr>
              <a:t>Develop-</a:t>
            </a:r>
          </a:p>
          <a:p xmlns:a="http://schemas.openxmlformats.org/drawingml/2006/main">
            <a:r>
              <a:rPr lang="en-US" sz="1300" b="1">
                <a:solidFill>
                  <a:srgbClr val="FFFFFF"/>
                </a:solidFill>
              </a:rPr>
              <a:t>ment</a:t>
            </a:r>
          </a:p>
        </p:txBody>
      </p:sp>
      <p:sp>
        <p:nvSpPr>
          <p:cNvPr id="100030" name="P4"/>
          <p:cNvSpPr txBox="1"/>
          <p:nvPr/>
        </p:nvSpPr>
        <p:spPr>
          <a:xfrm xmlns:a="http://schemas.openxmlformats.org/drawingml/2006/main">
            <a:off x="6300000" y="1260000"/>
            <a:ext cx="1620000" cy="1260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4</a:t>
            </a:r>
          </a:p>
          <a:p xmlns:a="http://schemas.openxmlformats.org/drawingml/2006/main">
            <a:r>
              <a:rPr lang="en-US" sz="1300" b="1">
                <a:solidFill>
                  <a:srgbClr val="FFFFFF"/>
                </a:solidFill>
              </a:rPr>
              <a:t>AI</a:t>
            </a:r>
          </a:p>
          <a:p xmlns:a="http://schemas.openxmlformats.org/drawingml/2006/main">
            <a:r>
              <a:rPr lang="en-US" sz="1300" b="1">
                <a:solidFill>
                  <a:srgbClr val="FFFFFF"/>
                </a:solidFill>
              </a:rPr>
              <a:t>Integration</a:t>
            </a:r>
          </a:p>
        </p:txBody>
      </p:sp>
      <p:sp>
        <p:nvSpPr>
          <p:cNvPr id="100031" name="P5"/>
          <p:cNvSpPr txBox="1"/>
          <p:nvPr/>
        </p:nvSpPr>
        <p:spPr>
          <a:xfrm xmlns:a="http://schemas.openxmlformats.org/drawingml/2006/main">
            <a:off x="8280000" y="1260000"/>
            <a:ext cx="1620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5</a:t>
            </a:r>
          </a:p>
          <a:p xmlns:a="http://schemas.openxmlformats.org/drawingml/2006/main">
            <a:r>
              <a:rPr lang="en-US" sz="1300" b="1">
                <a:solidFill>
                  <a:srgbClr val="FFFFFF"/>
                </a:solidFill>
              </a:rPr>
              <a:t>Testing &amp;</a:t>
            </a:r>
          </a:p>
          <a:p xmlns:a="http://schemas.openxmlformats.org/drawingml/2006/main">
            <a:r>
              <a:rPr lang="en-US" sz="1300" b="1">
                <a:solidFill>
                  <a:srgbClr val="FFFFFF"/>
                </a:solidFill>
              </a:rPr>
              <a:t>Validation</a:t>
            </a:r>
          </a:p>
        </p:txBody>
      </p:sp>
      <p:sp>
        <p:nvSpPr>
          <p:cNvPr id="100032" name="P6"/>
          <p:cNvSpPr txBox="1"/>
          <p:nvPr/>
        </p:nvSpPr>
        <p:spPr>
          <a:xfrm xmlns:a="http://schemas.openxmlformats.org/drawingml/2006/main">
            <a:off x="10260000" y="1260000"/>
            <a:ext cx="1620000" cy="1260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r>
              <a:rPr lang="en-US" sz="1300" b="1">
                <a:solidFill>
                  <a:srgbClr val="FFFFFF"/>
                </a:solidFill>
              </a:rPr>
              <a:t>Phase 6</a:t>
            </a:r>
          </a:p>
          <a:p xmlns:a="http://schemas.openxmlformats.org/drawingml/2006/main">
            <a:r>
              <a:rPr lang="en-US" sz="1300" b="1">
                <a:solidFill>
                  <a:srgbClr val="FFFFFF"/>
                </a:solidFill>
              </a:rPr>
              <a:t>Deployment</a:t>
            </a:r>
          </a:p>
        </p:txBody>
      </p:sp>
      <p:sp>
        <p:nvSpPr>
          <p:cNvPr id="100033" name="Loop"/>
          <p:cNvSpPr txBox="1"/>
          <p:nvPr/>
        </p:nvSpPr>
        <p:spPr>
          <a:xfrm xmlns:a="http://schemas.openxmlformats.org/drawingml/2006/main">
            <a:off x="540000" y="2700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B0BEC5"/>
                </a:solidFill>
              </a:rPr>
              <a:t>The Agentic AI loop embedded in every phase:</a:t>
            </a:r>
          </a:p>
        </p:txBody>
      </p:sp>
      <p:sp>
        <p:nvSpPr>
          <p:cNvPr id="100034" name="Perceive"/>
          <p:cNvSpPr txBox="1"/>
          <p:nvPr/>
        </p:nvSpPr>
        <p:spPr>
          <a:xfrm xmlns:a="http://schemas.openxmlformats.org/drawingml/2006/main">
            <a:off x="540000" y="3060000"/>
            <a:ext cx="21600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1">
                <a:solidFill>
                  <a:srgbClr val="FFFFFF"/>
                </a:solidFill>
              </a:rPr>
              <a:t>PERCEIVE</a:t>
            </a:r>
          </a:p>
        </p:txBody>
      </p:sp>
      <p:sp>
        <p:nvSpPr>
          <p:cNvPr id="100035" name="Plan"/>
          <p:cNvSpPr txBox="1"/>
          <p:nvPr/>
        </p:nvSpPr>
        <p:spPr>
          <a:xfrm xmlns:a="http://schemas.openxmlformats.org/drawingml/2006/main">
            <a:off x="3240000" y="3060000"/>
            <a:ext cx="2160000" cy="432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400" b="1">
                <a:solidFill>
                  <a:srgbClr val="FFFFFF"/>
                </a:solidFill>
              </a:rPr>
              <a:t>PLAN</a:t>
            </a:r>
          </a:p>
        </p:txBody>
      </p:sp>
      <p:sp>
        <p:nvSpPr>
          <p:cNvPr id="100036" name="Act"/>
          <p:cNvSpPr txBox="1"/>
          <p:nvPr/>
        </p:nvSpPr>
        <p:spPr>
          <a:xfrm xmlns:a="http://schemas.openxmlformats.org/drawingml/2006/main">
            <a:off x="5940000" y="3060000"/>
            <a:ext cx="2160000" cy="432000"/>
          </a:xfrm>
          <a:prstGeom xmlns:a="http://schemas.openxmlformats.org/drawingml/2006/main" prst="rect">
            <a:avLst/>
          </a:prstGeom>
          <a:solidFill xmlns:a="http://schemas.openxmlformats.org/drawingml/2006/main">
            <a:srgbClr val="0043CE"/>
          </a:solidFill>
        </p:spPr>
        <p:txBody>
          <a:bodyPr xmlns:a="http://schemas.openxmlformats.org/drawingml/2006/main"/>
          <a:lstStyle xmlns:a="http://schemas.openxmlformats.org/drawingml/2006/main"/>
          <a:p xmlns:a="http://schemas.openxmlformats.org/drawingml/2006/main">
            <a:r>
              <a:rPr lang="en-US" sz="1400" b="1">
                <a:solidFill>
                  <a:srgbClr val="FFFFFF"/>
                </a:solidFill>
              </a:rPr>
              <a:t>ACT</a:t>
            </a:r>
          </a:p>
        </p:txBody>
      </p:sp>
      <p:sp>
        <p:nvSpPr>
          <p:cNvPr id="100037" name="Reflect"/>
          <p:cNvSpPr txBox="1"/>
          <p:nvPr/>
        </p:nvSpPr>
        <p:spPr>
          <a:xfrm xmlns:a="http://schemas.openxmlformats.org/drawingml/2006/main">
            <a:off x="8640000" y="3060000"/>
            <a:ext cx="2160000" cy="432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r>
              <a:rPr lang="en-US" sz="1400" b="1">
                <a:solidFill>
                  <a:srgbClr val="FFFFFF"/>
                </a:solidFill>
              </a:rPr>
              <a:t>REFLECT</a:t>
            </a:r>
          </a:p>
        </p:txBody>
      </p:sp>
    </p:spTree>
  </p:cSld>
  <p:transition advTm="7500"/>
</p:sld>
</file>

<file path=ppt/slides/slide5.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38"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39" name="Label"/>
          <p:cNvSpPr txBox="1"/>
          <p:nvPr/>
        </p:nvSpPr>
        <p:spPr>
          <a:xfrm xmlns:a="http://schemas.openxmlformats.org/drawingml/2006/main">
            <a:off x="540000" y="252000"/>
            <a:ext cx="36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PHASE 1</a:t>
            </a:r>
          </a:p>
        </p:txBody>
      </p:sp>
      <p:sp>
        <p:nvSpPr>
          <p:cNvPr id="100040"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Requirements Analysis &amp; Planning</a:t>
            </a:r>
          </a:p>
        </p:txBody>
      </p:sp>
      <p:sp>
        <p:nvSpPr>
          <p:cNvPr id="100041" name="FRHeader"/>
          <p:cNvSpPr txBox="1"/>
          <p:nvPr/>
        </p:nvSpPr>
        <p:spPr>
          <a:xfrm xmlns:a="http://schemas.openxmlformats.org/drawingml/2006/main">
            <a:off x="540000" y="1080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FUNCTIONAL REQUIREMENTS</a:t>
            </a:r>
          </a:p>
        </p:txBody>
      </p:sp>
      <p:sp>
        <p:nvSpPr>
          <p:cNvPr id="100042" name="FR"/>
          <p:cNvSpPr txBox="1"/>
          <p:nvPr/>
        </p:nvSpPr>
        <p:spPr>
          <a:xfrm xmlns:a="http://schemas.openxmlformats.org/drawingml/2006/main">
            <a:off x="540000" y="1368000"/>
            <a:ext cx="5040000" cy="16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FR-01  Display Yogesh's intro, skills, achievements  [HIGH]</a:t>
            </a:r>
          </a:p>
          <a:p xmlns:a="http://schemas.openxmlformats.org/drawingml/2006/main">
            <a:r>
              <a:rPr lang="en-US" sz="1300">
                <a:solidFill>
                  <a:srgbClr val="B0BEC5"/>
                </a:solidFill>
              </a:rPr>
              <a:t>FR-02  Showcase project portfolio with descriptions  [HIGH]</a:t>
            </a:r>
          </a:p>
          <a:p xmlns:a="http://schemas.openxmlformats.org/drawingml/2006/main">
            <a:r>
              <a:rPr lang="en-US" sz="1300">
                <a:solidFill>
                  <a:srgbClr val="B0BEC5"/>
                </a:solidFill>
              </a:rPr>
              <a:t>FR-03  Education, certifications, work experience  [HIGH]</a:t>
            </a:r>
          </a:p>
          <a:p xmlns:a="http://schemas.openxmlformats.org/drawingml/2006/main">
            <a:r>
              <a:rPr lang="en-US" sz="1300">
                <a:solidFill>
                  <a:srgbClr val="B0BEC5"/>
                </a:solidFill>
              </a:rPr>
              <a:t>FR-04  Contact form and social links  [MEDIUM]</a:t>
            </a:r>
          </a:p>
          <a:p xmlns:a="http://schemas.openxmlformats.org/drawingml/2006/main">
            <a:r>
              <a:rPr lang="en-US" sz="1300">
                <a:solidFill>
                  <a:srgbClr val="B0BEC5"/>
                </a:solidFill>
              </a:rPr>
              <a:t>FR-05  IBM Granite AI chatbot for visitor queries  [HIGH]</a:t>
            </a:r>
          </a:p>
          <a:p xmlns:a="http://schemas.openxmlformats.org/drawingml/2006/main">
            <a:r>
              <a:rPr lang="en-US" sz="1300">
                <a:solidFill>
                  <a:srgbClr val="B0BEC5"/>
                </a:solidFill>
              </a:rPr>
              <a:t>FR-06  AI agent autonomously routes queries  [HIGH]</a:t>
            </a:r>
          </a:p>
          <a:p xmlns:a="http://schemas.openxmlformats.org/drawingml/2006/main">
            <a:r>
              <a:rPr lang="en-US" sz="1300">
                <a:solidFill>
                  <a:srgbClr val="B0BEC5"/>
                </a:solidFill>
              </a:rPr>
              <a:t>FR-07  Responsive: mobile, tablet, desktop  [HIGH]</a:t>
            </a:r>
          </a:p>
        </p:txBody>
      </p:sp>
      <p:sp>
        <p:nvSpPr>
          <p:cNvPr id="100043" name="NFRHeader"/>
          <p:cNvSpPr txBox="1"/>
          <p:nvPr/>
        </p:nvSpPr>
        <p:spPr>
          <a:xfrm xmlns:a="http://schemas.openxmlformats.org/drawingml/2006/main">
            <a:off x="6120000" y="1080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NON-FUNCTIONAL REQUIREMENTS</a:t>
            </a:r>
          </a:p>
        </p:txBody>
      </p:sp>
      <p:sp>
        <p:nvSpPr>
          <p:cNvPr id="100044" name="NFR"/>
          <p:cNvSpPr txBox="1"/>
          <p:nvPr/>
        </p:nvSpPr>
        <p:spPr>
          <a:xfrm xmlns:a="http://schemas.openxmlformats.org/drawingml/2006/main">
            <a:off x="6120000" y="1368000"/>
            <a:ext cx="504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Performance:  Page load &lt; 2 seconds</a:t>
            </a:r>
          </a:p>
          <a:p xmlns:a="http://schemas.openxmlformats.org/drawingml/2006/main">
            <a:r>
              <a:rPr lang="en-US" sz="1300">
                <a:solidFill>
                  <a:srgbClr val="B0BEC5"/>
                </a:solidFill>
              </a:rPr>
              <a:t>Accessibility:  WCAG 2.1 AA compliant</a:t>
            </a:r>
          </a:p>
          <a:p xmlns:a="http://schemas.openxmlformats.org/drawingml/2006/main">
            <a:r>
              <a:rPr lang="en-US" sz="1300">
                <a:solidFill>
                  <a:srgbClr val="B0BEC5"/>
                </a:solidFill>
              </a:rPr>
              <a:t>Browsers:  Chrome, Firefox, Edge, Safari</a:t>
            </a:r>
          </a:p>
          <a:p xmlns:a="http://schemas.openxmlformats.org/drawingml/2006/main">
            <a:r>
              <a:rPr lang="en-US" sz="1300">
                <a:solidFill>
                  <a:srgbClr val="B0BEC5"/>
                </a:solidFill>
              </a:rPr>
              <a:t>Backend:  None — fully static + client-side AI</a:t>
            </a:r>
          </a:p>
          <a:p xmlns:a="http://schemas.openxmlformats.org/drawingml/2006/main">
            <a:r>
              <a:rPr lang="en-US" sz="1300">
                <a:solidFill>
                  <a:srgbClr val="B0BEC5"/>
                </a:solidFill>
              </a:rPr>
              <a:t>Security:  IBM API key kept server-side only</a:t>
            </a:r>
          </a:p>
        </p:txBody>
      </p:sp>
      <p:sp>
        <p:nvSpPr>
          <p:cNvPr id="100045" name="AgentHeader"/>
          <p:cNvSpPr txBox="1"/>
          <p:nvPr/>
        </p:nvSpPr>
        <p:spPr>
          <a:xfrm xmlns:a="http://schemas.openxmlformats.org/drawingml/2006/main">
            <a:off x="540000" y="3060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0B4D8"/>
                </a:solidFill>
              </a:rPr>
              <a:t>AI AGENT GOALS</a:t>
            </a:r>
          </a:p>
        </p:txBody>
      </p:sp>
      <p:sp>
        <p:nvSpPr>
          <p:cNvPr id="100046" name="AgentGoals"/>
          <p:cNvSpPr txBox="1"/>
          <p:nvPr/>
        </p:nvSpPr>
        <p:spPr>
          <a:xfrm xmlns:a="http://schemas.openxmlformats.org/drawingml/2006/main">
            <a:off x="540000" y="3312000"/>
            <a:ext cx="1080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8892A4"/>
                </a:solidFill>
              </a:rPr>
              <a:t>Perceive — Understand user's natural language query     |     Plan — Identify relevant portfolio section     |     Act — Retrieve &amp; compose answer     |     Reflect — Handle ambiguous queries gracefully</a:t>
            </a:r>
          </a:p>
        </p:txBody>
      </p:sp>
    </p:spTree>
  </p:cSld>
  <p:transition advTm="7500"/>
</p:sld>
</file>

<file path=ppt/slides/slide6.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47"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1000"/>
          </a:p>
        </p:txBody>
      </p:sp>
      <p:sp>
        <p:nvSpPr>
          <p:cNvPr id="100048" name="Label"/>
          <p:cNvSpPr txBox="1"/>
          <p:nvPr/>
        </p:nvSpPr>
        <p:spPr>
          <a:xfrm xmlns:a="http://schemas.openxmlformats.org/drawingml/2006/main">
            <a:off x="540000" y="252000"/>
            <a:ext cx="36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PHASE 2</a:t>
            </a:r>
          </a:p>
        </p:txBody>
      </p:sp>
      <p:sp>
        <p:nvSpPr>
          <p:cNvPr id="100049"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System Design &amp; Architecture</a:t>
            </a:r>
          </a:p>
        </p:txBody>
      </p:sp>
      <p:sp>
        <p:nvSpPr>
          <p:cNvPr id="100050" name="ArchBox"/>
          <p:cNvSpPr txBox="1"/>
          <p:nvPr/>
        </p:nvSpPr>
        <p:spPr>
          <a:xfrm xmlns:a="http://schemas.openxmlformats.org/drawingml/2006/main">
            <a:off x="540000" y="1080000"/>
            <a:ext cx="6840000" cy="27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PORTFOLIO WEBSITE (Static — HTML/CSS/JS)</a:t>
            </a:r>
          </a:p>
          <a:p xmlns:a="http://schemas.openxmlformats.org/drawingml/2006/main">
            <a:r>
              <a:rPr lang="en-US" sz="1200">
                <a:solidFill>
                  <a:srgbClr val="B0BEC5"/>
                </a:solidFill>
              </a:rPr>
              <a:t/>
            </a:r>
          </a:p>
          <a:p xmlns:a="http://schemas.openxmlformats.org/drawingml/2006/main">
            <a:r>
              <a:rPr lang="en-US" sz="1200">
                <a:solidFill>
                  <a:srgbClr val="B0BEC5"/>
                </a:solidFill>
              </a:rPr>
              <a:t>  [ Hero ]   [ About ]   [ Skills ]   [ Projects ]   [ Education ]   [ Certs ]   [ Contact ]</a:t>
            </a:r>
          </a:p>
          <a:p xmlns:a="http://schemas.openxmlformats.org/drawingml/2006/main">
            <a:r>
              <a:rPr lang="en-US" sz="1200">
                <a:solidFill>
                  <a:srgbClr val="B0BEC5"/>
                </a:solidFill>
              </a:rPr>
              <a:t/>
            </a:r>
          </a:p>
          <a:p xmlns:a="http://schemas.openxmlformats.org/drawingml/2006/main">
            <a:r>
              <a:rPr lang="en-US" sz="1200">
                <a:solidFill>
                  <a:srgbClr val="B0BEC5"/>
                </a:solidFill>
              </a:rPr>
              <a:t>  IBM Granite AI Chat Widget</a:t>
            </a:r>
          </a:p>
          <a:p xmlns:a="http://schemas.openxmlformats.org/drawingml/2006/main">
            <a:r>
              <a:rPr lang="en-US" sz="1200">
                <a:solidFill>
                  <a:srgbClr val="B0BEC5"/>
                </a:solidFill>
              </a:rPr>
              <a:t>    Agentic Reasoning Engine (agent.js)</a:t>
            </a:r>
          </a:p>
          <a:p xmlns:a="http://schemas.openxmlformats.org/drawingml/2006/main">
            <a:r>
              <a:rPr lang="en-US" sz="1200">
                <a:solidFill>
                  <a:srgbClr val="B0BEC5"/>
                </a:solidFill>
              </a:rPr>
              <a:t>    - Intent Detection   - Knowledge Base   - Response Generation</a:t>
            </a:r>
          </a:p>
          <a:p xmlns:a="http://schemas.openxmlformats.org/drawingml/2006/main">
            <a:r>
              <a:rPr lang="en-US" sz="1200">
                <a:solidFill>
                  <a:srgbClr val="B0BEC5"/>
                </a:solidFill>
              </a:rPr>
              <a:t/>
            </a:r>
          </a:p>
          <a:p xmlns:a="http://schemas.openxmlformats.org/drawingml/2006/main">
            <a:r>
              <a:rPr lang="en-US" sz="1200">
                <a:solidFill>
                  <a:srgbClr val="B0BEC5"/>
                </a:solidFill>
              </a:rPr>
              <a:t>  Node.js Proxy Server (server.js — PORT 3000)</a:t>
            </a:r>
          </a:p>
          <a:p xmlns:a="http://schemas.openxmlformats.org/drawingml/2006/main">
            <a:r>
              <a:rPr lang="en-US" sz="1200">
                <a:solidFill>
                  <a:srgbClr val="B0BEC5"/>
                </a:solidFill>
              </a:rPr>
              <a:t>    POST /api/granite  --&gt;  IBM watsonx.ai  --&gt;  Granite 13B Model</a:t>
            </a:r>
          </a:p>
        </p:txBody>
      </p:sp>
      <p:sp>
        <p:nvSpPr>
          <p:cNvPr id="100051" name="SectionsHeader"/>
          <p:cNvSpPr txBox="1"/>
          <p:nvPr/>
        </p:nvSpPr>
        <p:spPr>
          <a:xfrm xmlns:a="http://schemas.openxmlformats.org/drawingml/2006/main">
            <a:off x="7920000" y="1080000"/>
            <a:ext cx="32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0B4D8"/>
                </a:solidFill>
              </a:rPr>
              <a:t>8 UI SECTIONS</a:t>
            </a:r>
          </a:p>
        </p:txBody>
      </p:sp>
      <p:sp>
        <p:nvSpPr>
          <p:cNvPr id="100052" name="Sections"/>
          <p:cNvSpPr txBox="1"/>
          <p:nvPr/>
        </p:nvSpPr>
        <p:spPr>
          <a:xfrm xmlns:a="http://schemas.openxmlformats.org/drawingml/2006/main">
            <a:off x="7920000" y="1368000"/>
            <a:ext cx="3240000" cy="19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1  Navigation Bar — fixed, blur</a:t>
            </a:r>
          </a:p>
          <a:p xmlns:a="http://schemas.openxmlformats.org/drawingml/2006/main">
            <a:r>
              <a:rPr lang="en-US" sz="1300">
                <a:solidFill>
                  <a:srgbClr val="B0BEC5"/>
                </a:solidFill>
              </a:rPr>
              <a:t>2  Hero — name, avatar, stats</a:t>
            </a:r>
          </a:p>
          <a:p xmlns:a="http://schemas.openxmlformats.org/drawingml/2006/main">
            <a:r>
              <a:rPr lang="en-US" sz="1300">
                <a:solidFill>
                  <a:srgbClr val="B0BEC5"/>
                </a:solidFill>
              </a:rPr>
              <a:t>3  About — bio, highlights</a:t>
            </a:r>
          </a:p>
          <a:p xmlns:a="http://schemas.openxmlformats.org/drawingml/2006/main">
            <a:r>
              <a:rPr lang="en-US" sz="1300">
                <a:solidFill>
                  <a:srgbClr val="B0BEC5"/>
                </a:solidFill>
              </a:rPr>
              <a:t>4  Skills — 6 category cards</a:t>
            </a:r>
          </a:p>
          <a:p xmlns:a="http://schemas.openxmlformats.org/drawingml/2006/main">
            <a:r>
              <a:rPr lang="en-US" sz="1300">
                <a:solidFill>
                  <a:srgbClr val="B0BEC5"/>
                </a:solidFill>
              </a:rPr>
              <a:t>5  Projects — 6 project cards</a:t>
            </a:r>
          </a:p>
          <a:p xmlns:a="http://schemas.openxmlformats.org/drawingml/2006/main">
            <a:r>
              <a:rPr lang="en-US" sz="1300">
                <a:solidFill>
                  <a:srgbClr val="B0BEC5"/>
                </a:solidFill>
              </a:rPr>
              <a:t>6  Education — timeline</a:t>
            </a:r>
          </a:p>
          <a:p xmlns:a="http://schemas.openxmlformats.org/drawingml/2006/main">
            <a:r>
              <a:rPr lang="en-US" sz="1300">
                <a:solidFill>
                  <a:srgbClr val="B0BEC5"/>
                </a:solidFill>
              </a:rPr>
              <a:t>7  Certifications — 6 certs</a:t>
            </a:r>
          </a:p>
          <a:p xmlns:a="http://schemas.openxmlformats.org/drawingml/2006/main">
            <a:r>
              <a:rPr lang="en-US" sz="1300">
                <a:solidFill>
                  <a:srgbClr val="B0BEC5"/>
                </a:solidFill>
              </a:rPr>
              <a:t>8  Contact — form + links</a:t>
            </a:r>
          </a:p>
        </p:txBody>
      </p:sp>
      <p:sp>
        <p:nvSpPr>
          <p:cNvPr id="100053" name="KBHeader"/>
          <p:cNvSpPr txBox="1"/>
          <p:nvPr/>
        </p:nvSpPr>
        <p:spPr>
          <a:xfrm xmlns:a="http://schemas.openxmlformats.org/drawingml/2006/main">
            <a:off x="540000" y="3960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AI KNOWLEDGE BASE SCHEMA</a:t>
            </a:r>
          </a:p>
        </p:txBody>
      </p:sp>
      <p:sp>
        <p:nvSpPr>
          <p:cNvPr id="100054" name="KB"/>
          <p:cNvSpPr txBox="1"/>
          <p:nvPr/>
        </p:nvSpPr>
        <p:spPr>
          <a:xfrm xmlns:a="http://schemas.openxmlformats.org/drawingml/2006/main">
            <a:off x="540000" y="4248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 personal, skills: {technical[], ai_ml[], tools[]}, projects[], education[], certifications[], contact, trainer }</a:t>
            </a:r>
          </a:p>
        </p:txBody>
      </p:sp>
    </p:spTree>
  </p:cSld>
  <p:transition advTm="7500"/>
</p:sld>
</file>

<file path=ppt/slides/slide7.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55"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56" name="Label"/>
          <p:cNvSpPr txBox="1"/>
          <p:nvPr/>
        </p:nvSpPr>
        <p:spPr>
          <a:xfrm xmlns:a="http://schemas.openxmlformats.org/drawingml/2006/main">
            <a:off x="540000" y="252000"/>
            <a:ext cx="36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PHASE 3</a:t>
            </a:r>
          </a:p>
        </p:txBody>
      </p:sp>
      <p:sp>
        <p:nvSpPr>
          <p:cNvPr id="100057"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Development — Tech Stack &amp; Files</a:t>
            </a:r>
          </a:p>
        </p:txBody>
      </p:sp>
      <p:sp>
        <p:nvSpPr>
          <p:cNvPr id="100058" name="TSHead"/>
          <p:cNvSpPr txBox="1"/>
          <p:nvPr/>
        </p:nvSpPr>
        <p:spPr>
          <a:xfrm xmlns:a="http://schemas.openxmlformats.org/drawingml/2006/main">
            <a:off x="540000" y="1152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TECHNOLOGY STACK</a:t>
            </a:r>
          </a:p>
        </p:txBody>
      </p:sp>
      <p:sp>
        <p:nvSpPr>
          <p:cNvPr id="100059" name="TS"/>
          <p:cNvSpPr txBox="1"/>
          <p:nvPr/>
        </p:nvSpPr>
        <p:spPr>
          <a:xfrm xmlns:a="http://schemas.openxmlformats.org/drawingml/2006/main">
            <a:off x="540000" y="1440000"/>
            <a:ext cx="5040000" cy="19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Markup:      HTML5 (semantic, accessible)</a:t>
            </a:r>
          </a:p>
          <a:p xmlns:a="http://schemas.openxmlformats.org/drawingml/2006/main">
            <a:r>
              <a:rPr lang="en-US" sz="1300">
                <a:solidFill>
                  <a:srgbClr val="B0BEC5"/>
                </a:solidFill>
              </a:rPr>
              <a:t>Styling:        CSS3 — variables, grid, flexbox, animations</a:t>
            </a:r>
          </a:p>
          <a:p xmlns:a="http://schemas.openxmlformats.org/drawingml/2006/main">
            <a:r>
              <a:rPr lang="en-US" sz="1300">
                <a:solidFill>
                  <a:srgbClr val="B0BEC5"/>
                </a:solidFill>
              </a:rPr>
              <a:t>Logic:           Vanilla JavaScript ES6+</a:t>
            </a:r>
          </a:p>
          <a:p xmlns:a="http://schemas.openxmlformats.org/drawingml/2006/main">
            <a:r>
              <a:rPr lang="en-US" sz="1300">
                <a:solidFill>
                  <a:srgbClr val="B0BEC5"/>
                </a:solidFill>
              </a:rPr>
              <a:t>AI Engine:    IBM Granite client-side + watsonx.ai REST</a:t>
            </a:r>
          </a:p>
          <a:p xmlns:a="http://schemas.openxmlformats.org/drawingml/2006/main">
            <a:r>
              <a:rPr lang="en-US" sz="1300">
                <a:solidFill>
                  <a:srgbClr val="B0BEC5"/>
                </a:solidFill>
              </a:rPr>
              <a:t>Server:         Node.js (built-in http/https modules)</a:t>
            </a:r>
          </a:p>
          <a:p xmlns:a="http://schemas.openxmlformats.org/drawingml/2006/main">
            <a:r>
              <a:rPr lang="en-US" sz="1300">
                <a:solidFill>
                  <a:srgbClr val="B0BEC5"/>
                </a:solidFill>
              </a:rPr>
              <a:t>Auth:            IBM IAM token-based (auto-refreshed)</a:t>
            </a:r>
          </a:p>
          <a:p xmlns:a="http://schemas.openxmlformats.org/drawingml/2006/main">
            <a:r>
              <a:rPr lang="en-US" sz="1300">
                <a:solidFill>
                  <a:srgbClr val="B0BEC5"/>
                </a:solidFill>
              </a:rPr>
              <a:t>Deploy:        GitHub Pages / Node.js / Netlify / IBM Cloud</a:t>
            </a:r>
          </a:p>
        </p:txBody>
      </p:sp>
      <p:sp>
        <p:nvSpPr>
          <p:cNvPr id="100060" name="TaskHead"/>
          <p:cNvSpPr txBox="1"/>
          <p:nvPr/>
        </p:nvSpPr>
        <p:spPr>
          <a:xfrm xmlns:a="http://schemas.openxmlformats.org/drawingml/2006/main">
            <a:off x="6120000" y="1152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COMPLETED TASKS</a:t>
            </a:r>
          </a:p>
        </p:txBody>
      </p:sp>
      <p:sp>
        <p:nvSpPr>
          <p:cNvPr id="100061" name="Tasks"/>
          <p:cNvSpPr txBox="1"/>
          <p:nvPr/>
        </p:nvSpPr>
        <p:spPr>
          <a:xfrm xmlns:a="http://schemas.openxmlformats.org/drawingml/2006/main">
            <a:off x="6120000" y="1440000"/>
            <a:ext cx="5040000" cy="23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[DONE]  index.html — 8-section portfolio (490 lines)</a:t>
            </a:r>
          </a:p>
          <a:p xmlns:a="http://schemas.openxmlformats.org/drawingml/2006/main">
            <a:r>
              <a:rPr lang="en-US" sz="1300">
                <a:solidFill>
                  <a:srgbClr val="B0BEC5"/>
                </a:solidFill>
              </a:rPr>
              <a:t>[DONE]  style.css — responsive dark theme (650 lines)</a:t>
            </a:r>
          </a:p>
          <a:p xmlns:a="http://schemas.openxmlformats.org/drawingml/2006/main">
            <a:r>
              <a:rPr lang="en-US" sz="1300">
                <a:solidFill>
                  <a:srgbClr val="B0BEC5"/>
                </a:solidFill>
              </a:rPr>
              <a:t>[DONE]  agent.js — IBM Granite AI engine (350 lines)</a:t>
            </a:r>
          </a:p>
          <a:p xmlns:a="http://schemas.openxmlformats.org/drawingml/2006/main">
            <a:r>
              <a:rPr lang="en-US" sz="1300">
                <a:solidFill>
                  <a:srgbClr val="B0BEC5"/>
                </a:solidFill>
              </a:rPr>
              <a:t>[DONE]  server.js — Node.js proxy (175 lines)</a:t>
            </a:r>
          </a:p>
          <a:p xmlns:a="http://schemas.openxmlformats.org/drawingml/2006/main">
            <a:r>
              <a:rPr lang="en-US" sz="1300">
                <a:solidFill>
                  <a:srgbClr val="B0BEC5"/>
                </a:solidFill>
              </a:rPr>
              <a:t>[DONE]  .env — IBM credentials configured</a:t>
            </a:r>
          </a:p>
          <a:p xmlns:a="http://schemas.openxmlformats.org/drawingml/2006/main">
            <a:r>
              <a:rPr lang="en-US" sz="1300">
                <a:solidFill>
                  <a:srgbClr val="B0BEC5"/>
                </a:solidFill>
              </a:rPr>
              <a:t>[DONE]  package.json — npm scripts: start, dev</a:t>
            </a:r>
          </a:p>
          <a:p xmlns:a="http://schemas.openxmlformats.org/drawingml/2006/main">
            <a:r>
              <a:rPr lang="en-US" sz="1300">
                <a:solidFill>
                  <a:srgbClr val="B0BEC5"/>
                </a:solidFill>
              </a:rPr>
              <a:t>[DONE]  launch_portfolio.bat — 3-mode launcher</a:t>
            </a:r>
          </a:p>
          <a:p xmlns:a="http://schemas.openxmlformats.org/drawingml/2006/main">
            <a:r>
              <a:rPr lang="en-US" sz="1300">
                <a:solidFill>
                  <a:srgbClr val="B0BEC5"/>
                </a:solidFill>
              </a:rPr>
              <a:t>[DONE]  README.md — full GitHub docs</a:t>
            </a:r>
          </a:p>
          <a:p xmlns:a="http://schemas.openxmlformats.org/drawingml/2006/main">
            <a:r>
              <a:rPr lang="en-US" sz="1300">
                <a:solidFill>
                  <a:srgbClr val="B0BEC5"/>
                </a:solidFill>
              </a:rPr>
              <a:t>[DONE]  .gitignore — secrets excluded</a:t>
            </a:r>
          </a:p>
          <a:p xmlns:a="http://schemas.openxmlformats.org/drawingml/2006/main">
            <a:r>
              <a:rPr lang="en-US" sz="1300">
                <a:solidFill>
                  <a:srgbClr val="B0BEC5"/>
                </a:solidFill>
              </a:rPr>
              <a:t>[DONE]  requirements.txt — dependencies listed</a:t>
            </a:r>
          </a:p>
        </p:txBody>
      </p:sp>
      <p:sp>
        <p:nvSpPr>
          <p:cNvPr id="100062" name="TotalLines"/>
          <p:cNvSpPr txBox="1"/>
          <p:nvPr/>
        </p:nvSpPr>
        <p:spPr>
          <a:xfrm xmlns:a="http://schemas.openxmlformats.org/drawingml/2006/main">
            <a:off x="540000" y="3708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Total codebase: ~3,229 lines across 10 committed files  |  dotenv v16.6.1 installed  |  0 vulnerabilities</a:t>
            </a:r>
          </a:p>
        </p:txBody>
      </p:sp>
    </p:spTree>
  </p:cSld>
  <p:transition advTm="7500"/>
</p:sld>
</file>

<file path=ppt/slides/slide8.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63"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1000"/>
          </a:p>
        </p:txBody>
      </p:sp>
      <p:sp>
        <p:nvSpPr>
          <p:cNvPr id="100064" name="Label"/>
          <p:cNvSpPr txBox="1"/>
          <p:nvPr/>
        </p:nvSpPr>
        <p:spPr>
          <a:xfrm xmlns:a="http://schemas.openxmlformats.org/drawingml/2006/main">
            <a:off x="540000" y="252000"/>
            <a:ext cx="36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PHASE 4</a:t>
            </a:r>
          </a:p>
        </p:txBody>
      </p:sp>
      <p:sp>
        <p:nvSpPr>
          <p:cNvPr id="100065"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IBM Granite AI Integration</a:t>
            </a:r>
          </a:p>
        </p:txBody>
      </p:sp>
      <p:sp>
        <p:nvSpPr>
          <p:cNvPr id="100066" name="FlowHead"/>
          <p:cNvSpPr txBox="1"/>
          <p:nvPr/>
        </p:nvSpPr>
        <p:spPr>
          <a:xfrm xmlns:a="http://schemas.openxmlformats.org/drawingml/2006/main">
            <a:off x="540000" y="1152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AGENTIC ENGINE FLOW (agent.js)</a:t>
            </a:r>
          </a:p>
        </p:txBody>
      </p:sp>
      <p:sp>
        <p:nvSpPr>
          <p:cNvPr id="100067" name="Flow"/>
          <p:cNvSpPr txBox="1"/>
          <p:nvPr/>
        </p:nvSpPr>
        <p:spPr>
          <a:xfrm xmlns:a="http://schemas.openxmlformats.org/drawingml/2006/main">
            <a:off x="540000" y="1440000"/>
            <a:ext cx="5040000" cy="30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User Input</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[1] PERCEIVE — perceive(input)</a:t>
            </a:r>
          </a:p>
          <a:p xmlns:a="http://schemas.openxmlformats.org/drawingml/2006/main">
            <a:r>
              <a:rPr lang="en-US" sz="1200">
                <a:solidFill>
                  <a:srgbClr val="B0BEC5"/>
                </a:solidFill>
              </a:rPr>
              <a:t>    Tokenize &amp; normalize query</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[2] PLAN — plan(perception)</a:t>
            </a:r>
          </a:p>
          <a:p xmlns:a="http://schemas.openxmlformats.org/drawingml/2006/main">
            <a:r>
              <a:rPr lang="en-US" sz="1200">
                <a:solidFill>
                  <a:srgbClr val="B0BEC5"/>
                </a:solidFill>
              </a:rPr>
              <a:t>    Score 12 intent patterns</a:t>
            </a:r>
          </a:p>
          <a:p xmlns:a="http://schemas.openxmlformats.org/drawingml/2006/main">
            <a:r>
              <a:rPr lang="en-US" sz="1200">
                <a:solidFill>
                  <a:srgbClr val="B0BEC5"/>
                </a:solidFill>
              </a:rPr>
              <a:t>    → primaryIntent + confidence</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[3] ACT — act(plan, perception)</a:t>
            </a:r>
          </a:p>
          <a:p xmlns:a="http://schemas.openxmlformats.org/drawingml/2006/main">
            <a:r>
              <a:rPr lang="en-US" sz="1200">
                <a:solidFill>
                  <a:srgbClr val="B0BEC5"/>
                </a:solidFill>
              </a:rPr>
              <a:t>    Retrieve from PORTFOLIO_KB</a:t>
            </a:r>
          </a:p>
          <a:p xmlns:a="http://schemas.openxmlformats.org/drawingml/2006/main">
            <a:r>
              <a:rPr lang="en-US" sz="1200">
                <a:solidFill>
                  <a:srgbClr val="B0BEC5"/>
                </a:solidFill>
              </a:rPr>
              <a:t>    Generate structured response</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[4] REFLECT — reflect(plan, response)</a:t>
            </a:r>
          </a:p>
          <a:p xmlns:a="http://schemas.openxmlformats.org/drawingml/2006/main">
            <a:r>
              <a:rPr lang="en-US" sz="1200">
                <a:solidFill>
                  <a:srgbClr val="B0BEC5"/>
                </a:solidFill>
              </a:rPr>
              <a:t>    confidence &lt; 0.5 → add tips</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    Output to Chat UI</a:t>
            </a:r>
          </a:p>
        </p:txBody>
      </p:sp>
      <p:sp>
        <p:nvSpPr>
          <p:cNvPr id="100068" name="CapHead"/>
          <p:cNvSpPr txBox="1"/>
          <p:nvPr/>
        </p:nvSpPr>
        <p:spPr>
          <a:xfrm xmlns:a="http://schemas.openxmlformats.org/drawingml/2006/main">
            <a:off x="6120000" y="1152000"/>
            <a:ext cx="50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0B4D8"/>
                </a:solidFill>
              </a:rPr>
              <a:t>AGENT CAPABILITIES</a:t>
            </a:r>
          </a:p>
        </p:txBody>
      </p:sp>
      <p:sp>
        <p:nvSpPr>
          <p:cNvPr id="100069" name="Caps"/>
          <p:cNvSpPr txBox="1"/>
          <p:nvPr/>
        </p:nvSpPr>
        <p:spPr>
          <a:xfrm xmlns:a="http://schemas.openxmlformats.org/drawingml/2006/main">
            <a:off x="6120000" y="1440000"/>
            <a:ext cx="5040000" cy="27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greeting        Hello / Hi / Hey</a:t>
            </a:r>
          </a:p>
          <a:p xmlns:a="http://schemas.openxmlformats.org/drawingml/2006/main">
            <a:r>
              <a:rPr lang="en-US" sz="1300">
                <a:solidFill>
                  <a:srgbClr val="B0BEC5"/>
                </a:solidFill>
              </a:rPr>
              <a:t>about             Who is Yogesh?</a:t>
            </a:r>
          </a:p>
          <a:p xmlns:a="http://schemas.openxmlformats.org/drawingml/2006/main">
            <a:r>
              <a:rPr lang="en-US" sz="1300">
                <a:solidFill>
                  <a:srgbClr val="B0BEC5"/>
                </a:solidFill>
              </a:rPr>
              <a:t>skills               What are your skills?</a:t>
            </a:r>
          </a:p>
          <a:p xmlns:a="http://schemas.openxmlformats.org/drawingml/2006/main">
            <a:r>
              <a:rPr lang="en-US" sz="1300">
                <a:solidFill>
                  <a:srgbClr val="B0BEC5"/>
                </a:solidFill>
              </a:rPr>
              <a:t>projects          Show me your projects</a:t>
            </a:r>
          </a:p>
          <a:p xmlns:a="http://schemas.openxmlformats.org/drawingml/2006/main">
            <a:r>
              <a:rPr lang="en-US" sz="1300">
                <a:solidFill>
                  <a:srgbClr val="B0BEC5"/>
                </a:solidFill>
              </a:rPr>
              <a:t>education      Where did you study?</a:t>
            </a:r>
          </a:p>
          <a:p xmlns:a="http://schemas.openxmlformats.org/drawingml/2006/main">
            <a:r>
              <a:rPr lang="en-US" sz="1300">
                <a:solidFill>
                  <a:srgbClr val="B0BEC5"/>
                </a:solidFill>
              </a:rPr>
              <a:t>certifications  Show certifications</a:t>
            </a:r>
          </a:p>
          <a:p xmlns:a="http://schemas.openxmlformats.org/drawingml/2006/main">
            <a:r>
              <a:rPr lang="en-US" sz="1300">
                <a:solidFill>
                  <a:srgbClr val="B0BEC5"/>
                </a:solidFill>
              </a:rPr>
              <a:t>contact           How can I reach you?</a:t>
            </a:r>
          </a:p>
          <a:p xmlns:a="http://schemas.openxmlformats.org/drawingml/2006/main">
            <a:r>
              <a:rPr lang="en-US" sz="1300">
                <a:solidFill>
                  <a:srgbClr val="B0BEC5"/>
                </a:solidFill>
              </a:rPr>
              <a:t>experience     Work history?</a:t>
            </a:r>
          </a:p>
          <a:p xmlns:a="http://schemas.openxmlformats.org/drawingml/2006/main">
            <a:r>
              <a:rPr lang="en-US" sz="1300">
                <a:solidFill>
                  <a:srgbClr val="B0BEC5"/>
                </a:solidFill>
              </a:rPr>
              <a:t>trainer             Who is Eluri Narendra?</a:t>
            </a:r>
          </a:p>
          <a:p xmlns:a="http://schemas.openxmlformats.org/drawingml/2006/main">
            <a:r>
              <a:rPr lang="en-US" sz="1300">
                <a:solidFill>
                  <a:srgbClr val="B0BEC5"/>
                </a:solidFill>
              </a:rPr>
              <a:t>granite            About IBM Granite?</a:t>
            </a:r>
          </a:p>
          <a:p xmlns:a="http://schemas.openxmlformats.org/drawingml/2006/main">
            <a:r>
              <a:rPr lang="en-US" sz="1300">
                <a:solidFill>
                  <a:srgbClr val="B0BEC5"/>
                </a:solidFill>
              </a:rPr>
              <a:t>help                What can you do?</a:t>
            </a:r>
          </a:p>
          <a:p xmlns:a="http://schemas.openxmlformats.org/drawingml/2006/main">
            <a:r>
              <a:rPr lang="en-US" sz="1300">
                <a:solidFill>
                  <a:srgbClr val="B0BEC5"/>
                </a:solidFill>
              </a:rPr>
              <a:t>thanks             Thank you!</a:t>
            </a:r>
          </a:p>
          <a:p xmlns:a="http://schemas.openxmlformats.org/drawingml/2006/main">
            <a:r>
              <a:rPr lang="en-US" sz="1300">
                <a:solidFill>
                  <a:srgbClr val="B0BEC5"/>
                </a:solidFill>
              </a:rPr>
              <a:t>fallback           Graceful redirection</a:t>
            </a:r>
          </a:p>
        </p:txBody>
      </p:sp>
      <p:sp>
        <p:nvSpPr>
          <p:cNvPr id="100070" name="Config"/>
          <p:cNvSpPr txBox="1"/>
          <p:nvPr/>
        </p:nvSpPr>
        <p:spPr>
          <a:xfrm xmlns:a="http://schemas.openxmlformats.org/drawingml/2006/main">
            <a:off x="540000" y="4608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IBM_PROJECT_ID: 70838522...  |  IBM_REGION: us-south.ml.cloud.ibm.com  |  Model: ibm/granite-13b-chat-v2  |  PORT: 3000</a:t>
            </a:r>
          </a:p>
        </p:txBody>
      </p:sp>
    </p:spTree>
  </p:cSld>
  <p:transition advTm="7500"/>
</p:sld>
</file>

<file path=ppt/slides/slide9.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71"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072" name="Label"/>
          <p:cNvSpPr txBox="1"/>
          <p:nvPr/>
        </p:nvSpPr>
        <p:spPr>
          <a:xfrm xmlns:a="http://schemas.openxmlformats.org/drawingml/2006/main">
            <a:off x="540000" y="252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PHASE 5 — TESTING &amp; VALIDATION</a:t>
            </a:r>
          </a:p>
        </p:txBody>
      </p:sp>
      <p:sp>
        <p:nvSpPr>
          <p:cNvPr id="100073"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Test Results — All 9 Tests Passed</a:t>
            </a:r>
          </a:p>
        </p:txBody>
      </p:sp>
      <p:sp>
        <p:nvSpPr>
          <p:cNvPr id="100074" name="TCHead"/>
          <p:cNvSpPr txBox="1"/>
          <p:nvPr/>
        </p:nvSpPr>
        <p:spPr>
          <a:xfrm xmlns:a="http://schemas.openxmlformats.org/drawingml/2006/main">
            <a:off x="540000" y="11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8892A4"/>
                </a:solidFill>
              </a:rPr>
              <a:t>TEST CASE</a:t>
            </a:r>
          </a:p>
        </p:txBody>
      </p:sp>
      <p:sp>
        <p:nvSpPr>
          <p:cNvPr id="100075" name="TCStatusHead"/>
          <p:cNvSpPr txBox="1"/>
          <p:nvPr/>
        </p:nvSpPr>
        <p:spPr>
          <a:xfrm xmlns:a="http://schemas.openxmlformats.org/drawingml/2006/main">
            <a:off x="7920000" y="1152000"/>
            <a:ext cx="288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8892A4"/>
                </a:solidFill>
              </a:rPr>
              <a:t>STATUS</a:t>
            </a:r>
          </a:p>
        </p:txBody>
      </p:sp>
      <p:sp>
        <p:nvSpPr>
          <p:cNvPr id="100076" name="TC1"/>
          <p:cNvSpPr txBox="1"/>
          <p:nvPr/>
        </p:nvSpPr>
        <p:spPr>
          <a:xfrm xmlns:a="http://schemas.openxmlformats.org/drawingml/2006/main">
            <a:off x="540000" y="1440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TC-01  Page loads correctly in Chrome / Edge / Firefox</a:t>
            </a:r>
          </a:p>
        </p:txBody>
      </p:sp>
      <p:sp>
        <p:nvSpPr>
          <p:cNvPr id="100077" name="TC1S"/>
          <p:cNvSpPr txBox="1"/>
          <p:nvPr/>
        </p:nvSpPr>
        <p:spPr>
          <a:xfrm xmlns:a="http://schemas.openxmlformats.org/drawingml/2006/main">
            <a:off x="7920000" y="1440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78" name="TC2"/>
          <p:cNvSpPr txBox="1"/>
          <p:nvPr/>
        </p:nvSpPr>
        <p:spPr>
          <a:xfrm xmlns:a="http://schemas.openxmlformats.org/drawingml/2006/main">
            <a:off x="540000" y="1764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TC-02  Mobile responsive test (320px–768px)</a:t>
            </a:r>
          </a:p>
        </p:txBody>
      </p:sp>
      <p:sp>
        <p:nvSpPr>
          <p:cNvPr id="100079" name="TC2S"/>
          <p:cNvSpPr txBox="1"/>
          <p:nvPr/>
        </p:nvSpPr>
        <p:spPr>
          <a:xfrm xmlns:a="http://schemas.openxmlformats.org/drawingml/2006/main">
            <a:off x="7920000" y="1764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80" name="TC3"/>
          <p:cNvSpPr txBox="1"/>
          <p:nvPr/>
        </p:nvSpPr>
        <p:spPr>
          <a:xfrm xmlns:a="http://schemas.openxmlformats.org/drawingml/2006/main">
            <a:off x="540000" y="2088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TC-03  AI chat opens on floating button click</a:t>
            </a:r>
          </a:p>
        </p:txBody>
      </p:sp>
      <p:sp>
        <p:nvSpPr>
          <p:cNvPr id="100081" name="TC3S"/>
          <p:cNvSpPr txBox="1"/>
          <p:nvPr/>
        </p:nvSpPr>
        <p:spPr>
          <a:xfrm xmlns:a="http://schemas.openxmlformats.org/drawingml/2006/main">
            <a:off x="7920000" y="2088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82" name="TC4"/>
          <p:cNvSpPr txBox="1"/>
          <p:nvPr/>
        </p:nvSpPr>
        <p:spPr>
          <a:xfrm xmlns:a="http://schemas.openxmlformats.org/drawingml/2006/main">
            <a:off x="540000" y="2412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TC-04  Query: "What are your skills?" returns skill list</a:t>
            </a:r>
          </a:p>
        </p:txBody>
      </p:sp>
      <p:sp>
        <p:nvSpPr>
          <p:cNvPr id="100083" name="TC4S"/>
          <p:cNvSpPr txBox="1"/>
          <p:nvPr/>
        </p:nvSpPr>
        <p:spPr>
          <a:xfrm xmlns:a="http://schemas.openxmlformats.org/drawingml/2006/main">
            <a:off x="7920000" y="2412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84" name="TC5"/>
          <p:cNvSpPr txBox="1"/>
          <p:nvPr/>
        </p:nvSpPr>
        <p:spPr>
          <a:xfrm xmlns:a="http://schemas.openxmlformats.org/drawingml/2006/main">
            <a:off x="540000" y="2736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TC-05  Query: "Tell me about your projects"</a:t>
            </a:r>
          </a:p>
        </p:txBody>
      </p:sp>
      <p:sp>
        <p:nvSpPr>
          <p:cNvPr id="100085" name="TC5S"/>
          <p:cNvSpPr txBox="1"/>
          <p:nvPr/>
        </p:nvSpPr>
        <p:spPr>
          <a:xfrm xmlns:a="http://schemas.openxmlformats.org/drawingml/2006/main">
            <a:off x="7920000" y="2736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86" name="TC6"/>
          <p:cNvSpPr txBox="1"/>
          <p:nvPr/>
        </p:nvSpPr>
        <p:spPr>
          <a:xfrm xmlns:a="http://schemas.openxmlformats.org/drawingml/2006/main">
            <a:off x="540000" y="3060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TC-06  Query: "How do I contact Yogesh?"</a:t>
            </a:r>
          </a:p>
        </p:txBody>
      </p:sp>
      <p:sp>
        <p:nvSpPr>
          <p:cNvPr id="100087" name="TC6S"/>
          <p:cNvSpPr txBox="1"/>
          <p:nvPr/>
        </p:nvSpPr>
        <p:spPr>
          <a:xfrm xmlns:a="http://schemas.openxmlformats.org/drawingml/2006/main">
            <a:off x="7920000" y="3060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88" name="TC7"/>
          <p:cNvSpPr txBox="1"/>
          <p:nvPr/>
        </p:nvSpPr>
        <p:spPr>
          <a:xfrm xmlns:a="http://schemas.openxmlformats.org/drawingml/2006/main">
            <a:off x="540000" y="3384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TC-07  Unrecognized query → graceful fallback</a:t>
            </a:r>
          </a:p>
        </p:txBody>
      </p:sp>
      <p:sp>
        <p:nvSpPr>
          <p:cNvPr id="100089" name="TC7S"/>
          <p:cNvSpPr txBox="1"/>
          <p:nvPr/>
        </p:nvSpPr>
        <p:spPr>
          <a:xfrm xmlns:a="http://schemas.openxmlformats.org/drawingml/2006/main">
            <a:off x="7920000" y="3384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90" name="TC8"/>
          <p:cNvSpPr txBox="1"/>
          <p:nvPr/>
        </p:nvSpPr>
        <p:spPr>
          <a:xfrm xmlns:a="http://schemas.openxmlformats.org/drawingml/2006/main">
            <a:off x="540000" y="3708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TC-08  Smooth scroll navigation works</a:t>
            </a:r>
          </a:p>
        </p:txBody>
      </p:sp>
      <p:sp>
        <p:nvSpPr>
          <p:cNvPr id="100091" name="TC8S"/>
          <p:cNvSpPr txBox="1"/>
          <p:nvPr/>
        </p:nvSpPr>
        <p:spPr>
          <a:xfrm xmlns:a="http://schemas.openxmlformats.org/drawingml/2006/main">
            <a:off x="7920000" y="3708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92" name="TC9"/>
          <p:cNvSpPr txBox="1"/>
          <p:nvPr/>
        </p:nvSpPr>
        <p:spPr>
          <a:xfrm xmlns:a="http://schemas.openxmlformats.org/drawingml/2006/main">
            <a:off x="540000" y="4032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TC-09  .bat file launches browser correctly</a:t>
            </a:r>
          </a:p>
        </p:txBody>
      </p:sp>
      <p:sp>
        <p:nvSpPr>
          <p:cNvPr id="100093" name="TC9S"/>
          <p:cNvSpPr txBox="1"/>
          <p:nvPr/>
        </p:nvSpPr>
        <p:spPr>
          <a:xfrm xmlns:a="http://schemas.openxmlformats.org/drawingml/2006/main">
            <a:off x="7920000" y="4032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24A148"/>
                </a:solidFill>
              </a:rPr>
              <a:t>PASS</a:t>
            </a:r>
          </a:p>
        </p:txBody>
      </p:sp>
      <p:sp>
        <p:nvSpPr>
          <p:cNvPr id="100094" name="Summary"/>
          <p:cNvSpPr txBox="1"/>
          <p:nvPr/>
        </p:nvSpPr>
        <p:spPr>
          <a:xfrm xmlns:a="http://schemas.openxmlformats.org/drawingml/2006/main">
            <a:off x="540000" y="4428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1">
                <a:solidFill>
                  <a:srgbClr val="24A148"/>
                </a:solidFill>
              </a:rPr>
              <a:t>9 / 9 Tests Passed  |  0 Failures  |  agent.js syntax: OK  |  server.js syntax: OK  |  15/15 HTML checks: OK</a:t>
            </a:r>
          </a:p>
        </p:txBody>
      </p:sp>
    </p:spTree>
  </p:cSld>
  <p:transition advTm="7500"/>
</p:sld>
</file>

<file path=ppt/slides/slide10.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095"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endParaRPr lang="en-US" sz="1000"/>
          </a:p>
        </p:txBody>
      </p:sp>
      <p:sp>
        <p:nvSpPr>
          <p:cNvPr id="100096"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PHASE 6 — DEPLOYMENT</a:t>
            </a:r>
          </a:p>
        </p:txBody>
      </p:sp>
      <p:sp>
        <p:nvSpPr>
          <p:cNvPr id="100097"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GitHub Deployment &amp; Launch</a:t>
            </a:r>
          </a:p>
        </p:txBody>
      </p:sp>
      <p:sp>
        <p:nvSpPr>
          <p:cNvPr id="100098" name="D1"/>
          <p:cNvSpPr txBox="1"/>
          <p:nvPr/>
        </p:nvSpPr>
        <p:spPr>
          <a:xfrm xmlns:a="http://schemas.openxmlformats.org/drawingml/2006/main">
            <a:off x="540000" y="1260000"/>
            <a:ext cx="23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FFFFFF"/>
                </a:solidFill>
              </a:rPr>
              <a:t>LOCAL</a:t>
            </a:r>
          </a:p>
          <a:p xmlns:a="http://schemas.openxmlformats.org/drawingml/2006/main">
            <a:r>
              <a:rPr lang="en-US" sz="1300">
                <a:solidFill>
                  <a:srgbClr val="FFFFFF"/>
                </a:solidFill>
              </a:rPr>
              <a:t>(Direct)</a:t>
            </a:r>
          </a:p>
          <a:p xmlns:a="http://schemas.openxmlformats.org/drawingml/2006/main">
            <a:r>
              <a:rPr lang="en-US" sz="1300">
                <a:solidFill>
                  <a:srgbClr val="FFFFFF"/>
                </a:solidFill>
              </a:rPr>
              <a:t/>
            </a:r>
          </a:p>
          <a:p xmlns:a="http://schemas.openxmlformats.org/drawingml/2006/main">
            <a:r>
              <a:rPr lang="en-US" sz="1300">
                <a:solidFill>
                  <a:srgbClr val="FFFFFF"/>
                </a:solidFill>
              </a:rPr>
              <a:t>Double-click</a:t>
            </a:r>
          </a:p>
          <a:p xmlns:a="http://schemas.openxmlformats.org/drawingml/2006/main">
            <a:r>
              <a:rPr lang="en-US" sz="1300">
                <a:solidFill>
                  <a:srgbClr val="FFFFFF"/>
                </a:solidFill>
              </a:rPr>
              <a:t>launch_portfolio.bat</a:t>
            </a:r>
          </a:p>
          <a:p xmlns:a="http://schemas.openxmlformats.org/drawingml/2006/main">
            <a:r>
              <a:rPr lang="en-US" sz="1300">
                <a:solidFill>
                  <a:srgbClr val="FFFFFF"/>
                </a:solidFill>
              </a:rPr>
              <a:t/>
            </a:r>
          </a:p>
          <a:p xmlns:a="http://schemas.openxmlformats.org/drawingml/2006/main">
            <a:r>
              <a:rPr lang="en-US" sz="1300">
                <a:solidFill>
                  <a:srgbClr val="FFFFFF"/>
                </a:solidFill>
              </a:rPr>
              <a:t>Opens index.html</a:t>
            </a:r>
          </a:p>
          <a:p xmlns:a="http://schemas.openxmlformats.org/drawingml/2006/main">
            <a:r>
              <a:rPr lang="en-US" sz="1300">
                <a:solidFill>
                  <a:srgbClr val="FFFFFF"/>
                </a:solidFill>
              </a:rPr>
              <a:t>in browser</a:t>
            </a:r>
          </a:p>
        </p:txBody>
      </p:sp>
      <p:sp>
        <p:nvSpPr>
          <p:cNvPr id="100099" name="D2"/>
          <p:cNvSpPr txBox="1"/>
          <p:nvPr/>
        </p:nvSpPr>
        <p:spPr>
          <a:xfrm xmlns:a="http://schemas.openxmlformats.org/drawingml/2006/main">
            <a:off x="3240000" y="1260000"/>
            <a:ext cx="23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FFFFFF"/>
                </a:solidFill>
              </a:rPr>
              <a:t>LOCAL</a:t>
            </a:r>
          </a:p>
          <a:p xmlns:a="http://schemas.openxmlformats.org/drawingml/2006/main">
            <a:r>
              <a:rPr lang="en-US" sz="1300">
                <a:solidFill>
                  <a:srgbClr val="FFFFFF"/>
                </a:solidFill>
              </a:rPr>
              <a:t>(Node.js)</a:t>
            </a:r>
          </a:p>
          <a:p xmlns:a="http://schemas.openxmlformats.org/drawingml/2006/main">
            <a:r>
              <a:rPr lang="en-US" sz="1300">
                <a:solidFill>
                  <a:srgbClr val="FFFFFF"/>
                </a:solidFill>
              </a:rPr>
              <a:t/>
            </a:r>
          </a:p>
          <a:p xmlns:a="http://schemas.openxmlformats.org/drawingml/2006/main">
            <a:r>
              <a:rPr lang="en-US" sz="1300">
                <a:solidFill>
                  <a:srgbClr val="FFFFFF"/>
                </a:solidFill>
              </a:rPr>
              <a:t>node server.js</a:t>
            </a:r>
          </a:p>
          <a:p xmlns:a="http://schemas.openxmlformats.org/drawingml/2006/main">
            <a:r>
              <a:rPr lang="en-US" sz="1300">
                <a:solidFill>
                  <a:srgbClr val="FFFFFF"/>
                </a:solidFill>
              </a:rPr>
              <a:t/>
            </a:r>
          </a:p>
          <a:p xmlns:a="http://schemas.openxmlformats.org/drawingml/2006/main">
            <a:r>
              <a:rPr lang="en-US" sz="1300">
                <a:solidFill>
                  <a:srgbClr val="FFFFFF"/>
                </a:solidFill>
              </a:rPr>
              <a:t>http://localhost:3000</a:t>
            </a:r>
          </a:p>
          <a:p xmlns:a="http://schemas.openxmlformats.org/drawingml/2006/main">
            <a:r>
              <a:rPr lang="en-US" sz="1300">
                <a:solidFill>
                  <a:srgbClr val="FFFFFF"/>
                </a:solidFill>
              </a:rPr>
              <a:t/>
            </a:r>
          </a:p>
          <a:p xmlns:a="http://schemas.openxmlformats.org/drawingml/2006/main">
            <a:r>
              <a:rPr lang="en-US" sz="1300">
                <a:solidFill>
                  <a:srgbClr val="FFFFFF"/>
                </a:solidFill>
              </a:rPr>
              <a:t>Live IBM Granite</a:t>
            </a:r>
          </a:p>
          <a:p xmlns:a="http://schemas.openxmlformats.org/drawingml/2006/main">
            <a:r>
              <a:rPr lang="en-US" sz="1300">
                <a:solidFill>
                  <a:srgbClr val="FFFFFF"/>
                </a:solidFill>
              </a:rPr>
              <a:t>API calls</a:t>
            </a:r>
          </a:p>
        </p:txBody>
      </p:sp>
      <p:sp>
        <p:nvSpPr>
          <p:cNvPr id="100100" name="D3"/>
          <p:cNvSpPr txBox="1"/>
          <p:nvPr/>
        </p:nvSpPr>
        <p:spPr>
          <a:xfrm xmlns:a="http://schemas.openxmlformats.org/drawingml/2006/main">
            <a:off x="5940000" y="1260000"/>
            <a:ext cx="23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FFFFFF"/>
                </a:solidFill>
              </a:rPr>
              <a:t>GITHUB</a:t>
            </a:r>
          </a:p>
          <a:p xmlns:a="http://schemas.openxmlformats.org/drawingml/2006/main">
            <a:r>
              <a:rPr lang="en-US" sz="1200">
                <a:solidFill>
                  <a:srgbClr val="FFFFFF"/>
                </a:solidFill>
              </a:rPr>
              <a:t>PAGES</a:t>
            </a:r>
          </a:p>
          <a:p xmlns:a="http://schemas.openxmlformats.org/drawingml/2006/main">
            <a:r>
              <a:rPr lang="en-US" sz="1200">
                <a:solidFill>
                  <a:srgbClr val="FFFFFF"/>
                </a:solidFill>
              </a:rPr>
              <a:t/>
            </a:r>
          </a:p>
          <a:p xmlns:a="http://schemas.openxmlformats.org/drawingml/2006/main">
            <a:r>
              <a:rPr lang="en-US" sz="1200">
                <a:solidFill>
                  <a:srgbClr val="FFFFFF"/>
                </a:solidFill>
              </a:rPr>
              <a:t>git push</a:t>
            </a:r>
          </a:p>
          <a:p xmlns:a="http://schemas.openxmlformats.org/drawingml/2006/main">
            <a:r>
              <a:rPr lang="en-US" sz="1200">
                <a:solidFill>
                  <a:srgbClr val="FFFFFF"/>
                </a:solidFill>
              </a:rPr>
              <a:t/>
            </a:r>
          </a:p>
          <a:p xmlns:a="http://schemas.openxmlformats.org/drawingml/2006/main">
            <a:r>
              <a:rPr lang="en-US" sz="1200">
                <a:solidFill>
                  <a:srgbClr val="FFFFFF"/>
                </a:solidFill>
              </a:rPr>
              <a:t>https://NarendraEluri123</a:t>
            </a:r>
          </a:p>
          <a:p xmlns:a="http://schemas.openxmlformats.org/drawingml/2006/main">
            <a:r>
              <a:rPr lang="en-US" sz="1200">
                <a:solidFill>
                  <a:srgbClr val="FFFFFF"/>
                </a:solidFill>
              </a:rPr>
              <a:t>.github.io/Portfolio1</a:t>
            </a:r>
          </a:p>
          <a:p xmlns:a="http://schemas.openxmlformats.org/drawingml/2006/main">
            <a:r>
              <a:rPr lang="en-US" sz="1200">
                <a:solidFill>
                  <a:srgbClr val="FFFFFF"/>
                </a:solidFill>
              </a:rPr>
              <a:t/>
            </a:r>
          </a:p>
          <a:p xmlns:a="http://schemas.openxmlformats.org/drawingml/2006/main">
            <a:r>
              <a:rPr lang="en-US" sz="1200">
                <a:solidFill>
                  <a:srgbClr val="FFFFFF"/>
                </a:solidFill>
              </a:rPr>
              <a:t>Free static hosting</a:t>
            </a:r>
          </a:p>
        </p:txBody>
      </p:sp>
      <p:sp>
        <p:nvSpPr>
          <p:cNvPr id="100101" name="D4"/>
          <p:cNvSpPr txBox="1"/>
          <p:nvPr/>
        </p:nvSpPr>
        <p:spPr>
          <a:xfrm xmlns:a="http://schemas.openxmlformats.org/drawingml/2006/main">
            <a:off x="8640000" y="1260000"/>
            <a:ext cx="23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FFFFFF"/>
                </a:solidFill>
              </a:rPr>
              <a:t>IBM CLOUD</a:t>
            </a:r>
          </a:p>
          <a:p xmlns:a="http://schemas.openxmlformats.org/drawingml/2006/main">
            <a:r>
              <a:rPr lang="en-US" sz="1300">
                <a:solidFill>
                  <a:srgbClr val="FFFFFF"/>
                </a:solidFill>
              </a:rPr>
              <a:t/>
            </a:r>
          </a:p>
          <a:p xmlns:a="http://schemas.openxmlformats.org/drawingml/2006/main">
            <a:r>
              <a:rPr lang="en-US" sz="1300">
                <a:solidFill>
                  <a:srgbClr val="FFFFFF"/>
                </a:solidFill>
              </a:rPr>
              <a:t>Object Storage</a:t>
            </a:r>
          </a:p>
          <a:p xmlns:a="http://schemas.openxmlformats.org/drawingml/2006/main">
            <a:r>
              <a:rPr lang="en-US" sz="1300">
                <a:solidFill>
                  <a:srgbClr val="FFFFFF"/>
                </a:solidFill>
              </a:rPr>
              <a:t>+ CDN</a:t>
            </a:r>
          </a:p>
          <a:p xmlns:a="http://schemas.openxmlformats.org/drawingml/2006/main">
            <a:r>
              <a:rPr lang="en-US" sz="1300">
                <a:solidFill>
                  <a:srgbClr val="FFFFFF"/>
                </a:solidFill>
              </a:rPr>
              <a:t/>
            </a:r>
          </a:p>
          <a:p xmlns:a="http://schemas.openxmlformats.org/drawingml/2006/main">
            <a:r>
              <a:rPr lang="en-US" sz="1300">
                <a:solidFill>
                  <a:srgbClr val="FFFFFF"/>
                </a:solidFill>
              </a:rPr>
              <a:t>Enterprise-grade</a:t>
            </a:r>
          </a:p>
          <a:p xmlns:a="http://schemas.openxmlformats.org/drawingml/2006/main">
            <a:r>
              <a:rPr lang="en-US" sz="1300">
                <a:solidFill>
                  <a:srgbClr val="FFFFFF"/>
                </a:solidFill>
              </a:rPr>
              <a:t>hosting</a:t>
            </a:r>
          </a:p>
        </p:txBody>
      </p:sp>
      <p:sp>
        <p:nvSpPr>
          <p:cNvPr id="100102" name="GitHead"/>
          <p:cNvSpPr txBox="1"/>
          <p:nvPr/>
        </p:nvSpPr>
        <p:spPr>
          <a:xfrm xmlns:a="http://schemas.openxmlformats.org/drawingml/2006/main">
            <a:off x="540000" y="3672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GIT HISTORY</a:t>
            </a:r>
          </a:p>
        </p:txBody>
      </p:sp>
      <p:sp>
        <p:nvSpPr>
          <p:cNvPr id="100103" name="Git"/>
          <p:cNvSpPr txBox="1"/>
          <p:nvPr/>
        </p:nvSpPr>
        <p:spPr>
          <a:xfrm xmlns:a="http://schemas.openxmlformats.org/drawingml/2006/main">
            <a:off x="540000" y="3960000"/>
            <a:ext cx="10800000" cy="64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57606A"/>
                </a:solidFill>
              </a:rPr>
              <a:t>commit 627d163  Initial release — Yogesh Portfolio with IBM Granite Agentic AI (10 files, 3,229 insertions)</a:t>
            </a:r>
          </a:p>
          <a:p xmlns:a="http://schemas.openxmlformats.org/drawingml/2006/main">
            <a:r>
              <a:rPr lang="en-US" sz="1200">
                <a:solidFill>
                  <a:srgbClr val="57606A"/>
                </a:solidFill>
              </a:rPr>
              <a:t>commit dcd0a4f  fix: replace unicode box chars in server banner for ASCII compatibility</a:t>
            </a:r>
          </a:p>
          <a:p xmlns:a="http://schemas.openxmlformats.org/drawingml/2006/main">
            <a:r>
              <a:rPr lang="en-US" sz="1200">
                <a:solidFill>
                  <a:srgbClr val="57606A"/>
                </a:solidFill>
              </a:rPr>
              <a:t>Branch: main  |  Remote: origin/main  |  Status: up to date</a:t>
            </a:r>
          </a:p>
        </p:txBody>
      </p:sp>
    </p:spTree>
  </p:cSld>
  <p:transition advTm="7500"/>
</p:sld>
</file>

<file path=ppt/slides/slide11.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04"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105" name="Label"/>
          <p:cNvSpPr txBox="1"/>
          <p:nvPr/>
        </p:nvSpPr>
        <p:spPr>
          <a:xfrm xmlns:a="http://schemas.openxmlformats.org/drawingml/2006/main">
            <a:off x="540000" y="252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PORTFOLIO SCREENSHOT — HERO SECTION</a:t>
            </a:r>
          </a:p>
        </p:txBody>
      </p:sp>
      <p:sp>
        <p:nvSpPr>
          <p:cNvPr id="100106" name="Title"/>
          <p:cNvSpPr txBox="1"/>
          <p:nvPr/>
        </p:nvSpPr>
        <p:spPr>
          <a:xfrm xmlns:a="http://schemas.openxmlformats.org/drawingml/2006/main">
            <a:off x="540000" y="5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Portfolio UI: Hero &amp; Navigation</a:t>
            </a:r>
          </a:p>
        </p:txBody>
      </p:sp>
      <p:sp>
        <p:nvSpPr>
          <p:cNvPr id="100107" name="NavBar"/>
          <p:cNvSpPr txBox="1"/>
          <p:nvPr/>
        </p:nvSpPr>
        <p:spPr>
          <a:xfrm xmlns:a="http://schemas.openxmlformats.org/drawingml/2006/main">
            <a:off x="540000" y="1080000"/>
            <a:ext cx="10800000" cy="28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E8EAF6"/>
                </a:solidFill>
              </a:rPr>
              <a:t>  Yogesh.dev        About    Skills    Projects    Education    Certs    [ Hire Me ]</a:t>
            </a:r>
          </a:p>
        </p:txBody>
      </p:sp>
      <p:sp>
        <p:nvSpPr>
          <p:cNvPr id="100108" name="EyeBrow"/>
          <p:cNvSpPr txBox="1"/>
          <p:nvPr/>
        </p:nvSpPr>
        <p:spPr>
          <a:xfrm xmlns:a="http://schemas.openxmlformats.org/drawingml/2006/main">
            <a:off x="540000" y="1512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1">
                <a:solidFill>
                  <a:srgbClr val="00B4D8"/>
                </a:solidFill>
              </a:rPr>
              <a:t>● AVAILABLE FOR OPPORTUNITIES</a:t>
            </a:r>
          </a:p>
        </p:txBody>
      </p:sp>
      <p:sp>
        <p:nvSpPr>
          <p:cNvPr id="100109" name="HeroName"/>
          <p:cNvSpPr txBox="1"/>
          <p:nvPr/>
        </p:nvSpPr>
        <p:spPr>
          <a:xfrm xmlns:a="http://schemas.openxmlformats.org/drawingml/2006/main">
            <a:off x="540000" y="1800000"/>
            <a:ext cx="648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Hi, I'm Yogesh Kumar</a:t>
            </a:r>
          </a:p>
        </p:txBody>
      </p:sp>
      <p:sp>
        <p:nvSpPr>
          <p:cNvPr id="100110" name="HeroRole"/>
          <p:cNvSpPr txBox="1"/>
          <p:nvPr/>
        </p:nvSpPr>
        <p:spPr>
          <a:xfrm xmlns:a="http://schemas.openxmlformats.org/drawingml/2006/main">
            <a:off x="540000" y="2484000"/>
            <a:ext cx="64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8892A4"/>
                </a:solidFill>
              </a:rPr>
              <a:t>Full Stack Developer &amp; AI Enthusiast</a:t>
            </a:r>
          </a:p>
        </p:txBody>
      </p:sp>
      <p:sp>
        <p:nvSpPr>
          <p:cNvPr id="100111" name="HeroDesc"/>
          <p:cNvSpPr txBox="1"/>
          <p:nvPr/>
        </p:nvSpPr>
        <p:spPr>
          <a:xfrm xmlns:a="http://schemas.openxmlformats.org/drawingml/2006/main">
            <a:off x="540000" y="2844000"/>
            <a:ext cx="648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57606A"/>
                </a:solidFill>
              </a:rPr>
              <a:t>Building scalable web applications and intelligent AI solutions.</a:t>
            </a:r>
          </a:p>
          <a:p xmlns:a="http://schemas.openxmlformats.org/drawingml/2006/main">
            <a:r>
              <a:rPr lang="en-US" sz="1300">
                <a:solidFill>
                  <a:srgbClr val="57606A"/>
                </a:solidFill>
              </a:rPr>
              <a:t>Specializing in IBM Granite, React, Node.js and cloud architectures.</a:t>
            </a:r>
          </a:p>
        </p:txBody>
      </p:sp>
      <p:sp>
        <p:nvSpPr>
          <p:cNvPr id="100112" name="BtnPrimary"/>
          <p:cNvSpPr txBox="1"/>
          <p:nvPr/>
        </p:nvSpPr>
        <p:spPr>
          <a:xfrm xmlns:a="http://schemas.openxmlformats.org/drawingml/2006/main">
            <a:off x="540000" y="3384000"/>
            <a:ext cx="18000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  View Projects</a:t>
            </a:r>
          </a:p>
        </p:txBody>
      </p:sp>
      <p:sp>
        <p:nvSpPr>
          <p:cNvPr id="100113" name="BtnOutline"/>
          <p:cNvSpPr txBox="1"/>
          <p:nvPr/>
        </p:nvSpPr>
        <p:spPr>
          <a:xfrm xmlns:a="http://schemas.openxmlformats.org/drawingml/2006/main">
            <a:off x="2592000" y="3384000"/>
            <a:ext cx="1800000" cy="324000"/>
          </a:xfrm>
          <a:prstGeom xmlns:a="http://schemas.openxmlformats.org/drawingml/2006/main" prst="rect">
            <a:avLst/>
          </a:prstGeom>
          <a:solidFill xmlns:a="http://schemas.openxmlformats.org/drawingml/2006/main">
            <a:srgbClr val="1A2236"/>
          </a:solidFill>
        </p:spPr>
        <p:txBody>
          <a:bodyPr xmlns:a="http://schemas.openxmlformats.org/drawingml/2006/main"/>
          <a:lstStyle xmlns:a="http://schemas.openxmlformats.org/drawingml/2006/main"/>
          <a:p xmlns:a="http://schemas.openxmlformats.org/drawingml/2006/main">
            <a:r>
              <a:rPr lang="en-US" sz="1300" b="0">
                <a:solidFill>
                  <a:srgbClr val="E8EAF6"/>
                </a:solidFill>
              </a:rPr>
              <a:t>  Get In Touch</a:t>
            </a:r>
          </a:p>
        </p:txBody>
      </p:sp>
      <p:sp>
        <p:nvSpPr>
          <p:cNvPr id="100114" name="Avatar"/>
          <p:cNvSpPr txBox="1"/>
          <p:nvPr/>
        </p:nvSpPr>
        <p:spPr>
          <a:xfrm xmlns:a="http://schemas.openxmlformats.org/drawingml/2006/main">
            <a:off x="7920000" y="1440000"/>
            <a:ext cx="2880000" cy="288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6000" b="1">
                <a:solidFill>
                  <a:srgbClr val="0F62FE"/>
                </a:solidFill>
              </a:rPr>
              <a:t>Y</a:t>
            </a:r>
          </a:p>
        </p:txBody>
      </p:sp>
      <p:sp>
        <p:nvSpPr>
          <p:cNvPr id="100115" name="Stats"/>
          <p:cNvSpPr txBox="1"/>
          <p:nvPr/>
        </p:nvSpPr>
        <p:spPr>
          <a:xfrm xmlns:a="http://schemas.openxmlformats.org/drawingml/2006/main">
            <a:off x="540000" y="3960000"/>
            <a:ext cx="64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8892A4"/>
                </a:solidFill>
              </a:rPr>
              <a:t>3+  Years Exp     20+  Projects     6  Certifications     100%  Commitment</a:t>
            </a:r>
          </a:p>
        </p:txBody>
      </p:sp>
      <p:sp>
        <p:nvSpPr>
          <p:cNvPr id="100116" name="ChatFab"/>
          <p:cNvSpPr txBox="1"/>
          <p:nvPr/>
        </p:nvSpPr>
        <p:spPr>
          <a:xfrm xmlns:a="http://schemas.openxmlformats.org/drawingml/2006/main">
            <a:off x="10440000" y="3780000"/>
            <a:ext cx="648000" cy="64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600" b="1">
                <a:solidFill>
                  <a:srgbClr val="FFFFFF"/>
                </a:solidFill>
              </a:rPr>
              <a:t>AI</a:t>
            </a:r>
          </a:p>
        </p:txBody>
      </p:sp>
    </p:spTree>
  </p:cSld>
  <p:transition advTm="7500"/>
</p:sld>
</file>

<file path=ppt/slides/slide12.xml><?xml version="1.0" encoding="utf-8"?>
<p:sld xmlns:a="http://schemas.openxmlformats.org/drawingml/2006/main" xmlns:p="http://schemas.openxmlformats.org/presentationml/2006/main">
  <p:cSld>
    <p:bg>
      <p:bgPr>
        <a:solidFill xmlns:a="http://schemas.openxmlformats.org/drawingml/2006/main">
          <a:srgbClr val="111827"/>
        </a:solidFill>
      </p:bgPr>
    </p:bg>
    <p:spTree>
      <p:nvGrpSpPr>
        <p:cNvPr id="1" name=""/>
        <p:cNvGrpSpPr/>
        <p:nvPr/>
      </p:nvGrpSpPr>
      <p:grpSpPr/>
      <p:sp>
        <p:nvSpPr>
          <p:cNvPr id="100117"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118" name="Label"/>
          <p:cNvSpPr txBox="1"/>
          <p:nvPr/>
        </p:nvSpPr>
        <p:spPr>
          <a:xfrm xmlns:a="http://schemas.openxmlformats.org/drawingml/2006/main">
            <a:off x="540000" y="252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PORTFOLIO SCREENSHOT — SKILLS SECTION</a:t>
            </a:r>
          </a:p>
        </p:txBody>
      </p:sp>
      <p:sp>
        <p:nvSpPr>
          <p:cNvPr id="100119" name="STitle"/>
          <p:cNvSpPr txBox="1"/>
          <p:nvPr/>
        </p:nvSpPr>
        <p:spPr>
          <a:xfrm xmlns:a="http://schemas.openxmlformats.org/drawingml/2006/main">
            <a:off x="2520000" y="540000"/>
            <a:ext cx="68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Skills &amp; Expertise</a:t>
            </a:r>
          </a:p>
        </p:txBody>
      </p:sp>
      <p:sp>
        <p:nvSpPr>
          <p:cNvPr id="100120" name="C1"/>
          <p:cNvSpPr txBox="1"/>
          <p:nvPr/>
        </p:nvSpPr>
        <p:spPr>
          <a:xfrm xmlns:a="http://schemas.openxmlformats.org/drawingml/2006/main">
            <a:off x="360000" y="1080000"/>
            <a:ext cx="3420000" cy="180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Frontend</a:t>
            </a:r>
          </a:p>
          <a:p xmlns:a="http://schemas.openxmlformats.org/drawingml/2006/main">
            <a:r>
              <a:rPr lang="en-US" sz="1200">
                <a:solidFill>
                  <a:srgbClr val="B0BEC5"/>
                </a:solidFill>
              </a:rPr>
              <a:t/>
            </a:r>
          </a:p>
          <a:p xmlns:a="http://schemas.openxmlformats.org/drawingml/2006/main">
            <a:r>
              <a:rPr lang="en-US" sz="1200">
                <a:solidFill>
                  <a:srgbClr val="B0BEC5"/>
                </a:solidFill>
              </a:rPr>
              <a:t>JavaScript (ES6+)</a:t>
            </a:r>
          </a:p>
          <a:p xmlns:a="http://schemas.openxmlformats.org/drawingml/2006/main">
            <a:r>
              <a:rPr lang="en-US" sz="1200">
                <a:solidFill>
                  <a:srgbClr val="B0BEC5"/>
                </a:solidFill>
              </a:rPr>
              <a:t>TypeScript</a:t>
            </a:r>
          </a:p>
          <a:p xmlns:a="http://schemas.openxmlformats.org/drawingml/2006/main">
            <a:r>
              <a:rPr lang="en-US" sz="1200">
                <a:solidFill>
                  <a:srgbClr val="B0BEC5"/>
                </a:solidFill>
              </a:rPr>
              <a:t>React.js  HTML5</a:t>
            </a:r>
          </a:p>
          <a:p xmlns:a="http://schemas.openxmlformats.org/drawingml/2006/main">
            <a:r>
              <a:rPr lang="en-US" sz="1200">
                <a:solidFill>
                  <a:srgbClr val="B0BEC5"/>
                </a:solidFill>
              </a:rPr>
              <a:t>CSS3  Next.js</a:t>
            </a:r>
          </a:p>
          <a:p xmlns:a="http://schemas.openxmlformats.org/drawingml/2006/main">
            <a:r>
              <a:rPr lang="en-US" sz="1200">
                <a:solidFill>
                  <a:srgbClr val="B0BEC5"/>
                </a:solidFill>
              </a:rPr>
              <a:t>Redux  Tailwind CSS</a:t>
            </a:r>
          </a:p>
        </p:txBody>
      </p:sp>
      <p:sp>
        <p:nvSpPr>
          <p:cNvPr id="100121" name="C2"/>
          <p:cNvSpPr txBox="1"/>
          <p:nvPr/>
        </p:nvSpPr>
        <p:spPr>
          <a:xfrm xmlns:a="http://schemas.openxmlformats.org/drawingml/2006/main">
            <a:off x="4140000" y="1080000"/>
            <a:ext cx="3420000" cy="180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Backend</a:t>
            </a:r>
          </a:p>
          <a:p xmlns:a="http://schemas.openxmlformats.org/drawingml/2006/main">
            <a:r>
              <a:rPr lang="en-US" sz="1200">
                <a:solidFill>
                  <a:srgbClr val="B0BEC5"/>
                </a:solidFill>
              </a:rPr>
              <a:t/>
            </a:r>
          </a:p>
          <a:p xmlns:a="http://schemas.openxmlformats.org/drawingml/2006/main">
            <a:r>
              <a:rPr lang="en-US" sz="1200">
                <a:solidFill>
                  <a:srgbClr val="B0BEC5"/>
                </a:solidFill>
              </a:rPr>
              <a:t>Node.js  Python</a:t>
            </a:r>
          </a:p>
          <a:p xmlns:a="http://schemas.openxmlformats.org/drawingml/2006/main">
            <a:r>
              <a:rPr lang="en-US" sz="1200">
                <a:solidFill>
                  <a:srgbClr val="B0BEC5"/>
                </a:solidFill>
              </a:rPr>
              <a:t>Express.js  FastAPI</a:t>
            </a:r>
          </a:p>
          <a:p xmlns:a="http://schemas.openxmlformats.org/drawingml/2006/main">
            <a:r>
              <a:rPr lang="en-US" sz="1200">
                <a:solidFill>
                  <a:srgbClr val="B0BEC5"/>
                </a:solidFill>
              </a:rPr>
              <a:t>REST APIs  GraphQL</a:t>
            </a:r>
          </a:p>
          <a:p xmlns:a="http://schemas.openxmlformats.org/drawingml/2006/main">
            <a:r>
              <a:rPr lang="en-US" sz="1200">
                <a:solidFill>
                  <a:srgbClr val="B0BEC5"/>
                </a:solidFill>
              </a:rPr>
              <a:t>WebSockets</a:t>
            </a:r>
          </a:p>
          <a:p xmlns:a="http://schemas.openxmlformats.org/drawingml/2006/main">
            <a:r>
              <a:rPr lang="en-US" sz="1200">
                <a:solidFill>
                  <a:srgbClr val="B0BEC5"/>
                </a:solidFill>
              </a:rPr>
              <a:t>Microservices</a:t>
            </a:r>
          </a:p>
        </p:txBody>
      </p:sp>
      <p:sp>
        <p:nvSpPr>
          <p:cNvPr id="100122" name="C3"/>
          <p:cNvSpPr txBox="1"/>
          <p:nvPr/>
        </p:nvSpPr>
        <p:spPr>
          <a:xfrm xmlns:a="http://schemas.openxmlformats.org/drawingml/2006/main">
            <a:off x="7920000" y="1080000"/>
            <a:ext cx="3420000" cy="180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AI &amp; Machine Learning</a:t>
            </a:r>
          </a:p>
          <a:p xmlns:a="http://schemas.openxmlformats.org/drawingml/2006/main">
            <a:r>
              <a:rPr lang="en-US" sz="1200">
                <a:solidFill>
                  <a:srgbClr val="B0BEC5"/>
                </a:solidFill>
              </a:rPr>
              <a:t/>
            </a:r>
          </a:p>
          <a:p xmlns:a="http://schemas.openxmlformats.org/drawingml/2006/main">
            <a:r>
              <a:rPr lang="en-US" sz="1200">
                <a:solidFill>
                  <a:srgbClr val="B0BEC5"/>
                </a:solidFill>
              </a:rPr>
              <a:t>IBM Granite  Watson</a:t>
            </a:r>
          </a:p>
          <a:p xmlns:a="http://schemas.openxmlformats.org/drawingml/2006/main">
            <a:r>
              <a:rPr lang="en-US" sz="1200">
                <a:solidFill>
                  <a:srgbClr val="B0BEC5"/>
                </a:solidFill>
              </a:rPr>
              <a:t>LangChain  HuggingFace</a:t>
            </a:r>
          </a:p>
          <a:p xmlns:a="http://schemas.openxmlformats.org/drawingml/2006/main">
            <a:r>
              <a:rPr lang="en-US" sz="1200">
                <a:solidFill>
                  <a:srgbClr val="B0BEC5"/>
                </a:solidFill>
              </a:rPr>
              <a:t>TensorFlow  PyTorch</a:t>
            </a:r>
          </a:p>
          <a:p xmlns:a="http://schemas.openxmlformats.org/drawingml/2006/main">
            <a:r>
              <a:rPr lang="en-US" sz="1200">
                <a:solidFill>
                  <a:srgbClr val="B0BEC5"/>
                </a:solidFill>
              </a:rPr>
              <a:t>Agentic AI  RAG</a:t>
            </a:r>
          </a:p>
          <a:p xmlns:a="http://schemas.openxmlformats.org/drawingml/2006/main">
            <a:r>
              <a:rPr lang="en-US" sz="1200">
                <a:solidFill>
                  <a:srgbClr val="B0BEC5"/>
                </a:solidFill>
              </a:rPr>
              <a:t>Prompt Engineering</a:t>
            </a:r>
          </a:p>
        </p:txBody>
      </p:sp>
      <p:sp>
        <p:nvSpPr>
          <p:cNvPr id="100123" name="C4"/>
          <p:cNvSpPr txBox="1"/>
          <p:nvPr/>
        </p:nvSpPr>
        <p:spPr>
          <a:xfrm xmlns:a="http://schemas.openxmlformats.org/drawingml/2006/main">
            <a:off x="360000" y="306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Databases</a:t>
            </a:r>
          </a:p>
          <a:p xmlns:a="http://schemas.openxmlformats.org/drawingml/2006/main">
            <a:r>
              <a:rPr lang="en-US" sz="1200">
                <a:solidFill>
                  <a:srgbClr val="B0BEC5"/>
                </a:solidFill>
              </a:rPr>
              <a:t/>
            </a:r>
          </a:p>
          <a:p xmlns:a="http://schemas.openxmlformats.org/drawingml/2006/main">
            <a:r>
              <a:rPr lang="en-US" sz="1200">
                <a:solidFill>
                  <a:srgbClr val="B0BEC5"/>
                </a:solidFill>
              </a:rPr>
              <a:t>MongoDB  PostgreSQL</a:t>
            </a:r>
          </a:p>
          <a:p xmlns:a="http://schemas.openxmlformats.org/drawingml/2006/main">
            <a:r>
              <a:rPr lang="en-US" sz="1200">
                <a:solidFill>
                  <a:srgbClr val="B0BEC5"/>
                </a:solidFill>
              </a:rPr>
              <a:t>MySQL  Redis</a:t>
            </a:r>
          </a:p>
          <a:p xmlns:a="http://schemas.openxmlformats.org/drawingml/2006/main">
            <a:r>
              <a:rPr lang="en-US" sz="1200">
                <a:solidFill>
                  <a:srgbClr val="B0BEC5"/>
                </a:solidFill>
              </a:rPr>
              <a:t>Firebase</a:t>
            </a:r>
          </a:p>
          <a:p xmlns:a="http://schemas.openxmlformats.org/drawingml/2006/main">
            <a:r>
              <a:rPr lang="en-US" sz="1200">
                <a:solidFill>
                  <a:srgbClr val="B0BEC5"/>
                </a:solidFill>
              </a:rPr>
              <a:t>Elasticsearch</a:t>
            </a:r>
          </a:p>
        </p:txBody>
      </p:sp>
      <p:sp>
        <p:nvSpPr>
          <p:cNvPr id="100124" name="C5"/>
          <p:cNvSpPr txBox="1"/>
          <p:nvPr/>
        </p:nvSpPr>
        <p:spPr>
          <a:xfrm xmlns:a="http://schemas.openxmlformats.org/drawingml/2006/main">
            <a:off x="4140000" y="306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Cloud &amp; DevOps</a:t>
            </a:r>
          </a:p>
          <a:p xmlns:a="http://schemas.openxmlformats.org/drawingml/2006/main">
            <a:r>
              <a:rPr lang="en-US" sz="1200">
                <a:solidFill>
                  <a:srgbClr val="B0BEC5"/>
                </a:solidFill>
              </a:rPr>
              <a:t/>
            </a:r>
          </a:p>
          <a:p xmlns:a="http://schemas.openxmlformats.org/drawingml/2006/main">
            <a:r>
              <a:rPr lang="en-US" sz="1200">
                <a:solidFill>
                  <a:srgbClr val="B0BEC5"/>
                </a:solidFill>
              </a:rPr>
              <a:t>IBM Cloud  AWS  Azure</a:t>
            </a:r>
          </a:p>
          <a:p xmlns:a="http://schemas.openxmlformats.org/drawingml/2006/main">
            <a:r>
              <a:rPr lang="en-US" sz="1200">
                <a:solidFill>
                  <a:srgbClr val="B0BEC5"/>
                </a:solidFill>
              </a:rPr>
              <a:t>Docker  Kubernetes</a:t>
            </a:r>
          </a:p>
          <a:p xmlns:a="http://schemas.openxmlformats.org/drawingml/2006/main">
            <a:r>
              <a:rPr lang="en-US" sz="1200">
                <a:solidFill>
                  <a:srgbClr val="B0BEC5"/>
                </a:solidFill>
              </a:rPr>
              <a:t>CI/CD  Terraform</a:t>
            </a:r>
          </a:p>
          <a:p xmlns:a="http://schemas.openxmlformats.org/drawingml/2006/main">
            <a:r>
              <a:rPr lang="en-US" sz="1200">
                <a:solidFill>
                  <a:srgbClr val="B0BEC5"/>
                </a:solidFill>
              </a:rPr>
              <a:t>Linux</a:t>
            </a:r>
          </a:p>
        </p:txBody>
      </p:sp>
      <p:sp>
        <p:nvSpPr>
          <p:cNvPr id="100125" name="C6"/>
          <p:cNvSpPr txBox="1"/>
          <p:nvPr/>
        </p:nvSpPr>
        <p:spPr>
          <a:xfrm xmlns:a="http://schemas.openxmlformats.org/drawingml/2006/main">
            <a:off x="7920000" y="306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200">
                <a:solidFill>
                  <a:srgbClr val="B0BEC5"/>
                </a:solidFill>
              </a:rPr>
              <a:t>Tools &amp; Workflow</a:t>
            </a:r>
          </a:p>
          <a:p xmlns:a="http://schemas.openxmlformats.org/drawingml/2006/main">
            <a:r>
              <a:rPr lang="en-US" sz="1200">
                <a:solidFill>
                  <a:srgbClr val="B0BEC5"/>
                </a:solidFill>
              </a:rPr>
              <a:t/>
            </a:r>
          </a:p>
          <a:p xmlns:a="http://schemas.openxmlformats.org/drawingml/2006/main">
            <a:r>
              <a:rPr lang="en-US" sz="1200">
                <a:solidFill>
                  <a:srgbClr val="B0BEC5"/>
                </a:solidFill>
              </a:rPr>
              <a:t>Git &amp; GitHub  VS Code</a:t>
            </a:r>
          </a:p>
          <a:p xmlns:a="http://schemas.openxmlformats.org/drawingml/2006/main">
            <a:r>
              <a:rPr lang="en-US" sz="1200">
                <a:solidFill>
                  <a:srgbClr val="B0BEC5"/>
                </a:solidFill>
              </a:rPr>
              <a:t>Postman  Figma</a:t>
            </a:r>
          </a:p>
          <a:p xmlns:a="http://schemas.openxmlformats.org/drawingml/2006/main">
            <a:r>
              <a:rPr lang="en-US" sz="1200">
                <a:solidFill>
                  <a:srgbClr val="B0BEC5"/>
                </a:solidFill>
              </a:rPr>
              <a:t>Jira  Agile/Scrum</a:t>
            </a:r>
          </a:p>
          <a:p xmlns:a="http://schemas.openxmlformats.org/drawingml/2006/main">
            <a:r>
              <a:rPr lang="en-US" sz="1200">
                <a:solidFill>
                  <a:srgbClr val="B0BEC5"/>
                </a:solidFill>
              </a:rPr>
              <a:t>IBM Qiskit</a:t>
            </a:r>
          </a:p>
        </p:txBody>
      </p:sp>
    </p:spTree>
  </p:cSld>
  <p:transition advTm="7500"/>
</p:sld>
</file>

<file path=ppt/slides/slide13.xml><?xml version="1.0" encoding="utf-8"?>
<p:sld xmlns:a="http://schemas.openxmlformats.org/drawingml/2006/main" xmlns:p="http://schemas.openxmlformats.org/presentationml/2006/main">
  <p:cSld>
    <p:bg>
      <p:bgPr>
        <a:solidFill xmlns:a="http://schemas.openxmlformats.org/drawingml/2006/main">
          <a:srgbClr val="111827"/>
        </a:solidFill>
      </p:bgPr>
    </p:bg>
    <p:spTree>
      <p:nvGrpSpPr>
        <p:cNvPr id="1" name=""/>
        <p:cNvGrpSpPr/>
        <p:nvPr/>
      </p:nvGrpSpPr>
      <p:grpSpPr/>
      <p:sp>
        <p:nvSpPr>
          <p:cNvPr id="100126"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1000"/>
          </a:p>
        </p:txBody>
      </p:sp>
      <p:sp>
        <p:nvSpPr>
          <p:cNvPr id="100127" name="Label"/>
          <p:cNvSpPr txBox="1"/>
          <p:nvPr/>
        </p:nvSpPr>
        <p:spPr>
          <a:xfrm xmlns:a="http://schemas.openxmlformats.org/drawingml/2006/main">
            <a:off x="540000" y="252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PORTFOLIO SCREENSHOT — PROJECTS SECTION</a:t>
            </a:r>
          </a:p>
        </p:txBody>
      </p:sp>
      <p:sp>
        <p:nvSpPr>
          <p:cNvPr id="100128" name="STitle"/>
          <p:cNvSpPr txBox="1"/>
          <p:nvPr/>
        </p:nvSpPr>
        <p:spPr>
          <a:xfrm xmlns:a="http://schemas.openxmlformats.org/drawingml/2006/main">
            <a:off x="2520000" y="540000"/>
            <a:ext cx="68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Featured Projects</a:t>
            </a:r>
          </a:p>
        </p:txBody>
      </p:sp>
      <p:sp>
        <p:nvSpPr>
          <p:cNvPr id="100129" name="P1"/>
          <p:cNvSpPr txBox="1"/>
          <p:nvPr/>
        </p:nvSpPr>
        <p:spPr>
          <a:xfrm xmlns:a="http://schemas.openxmlformats.org/drawingml/2006/main">
            <a:off x="360000" y="1080000"/>
            <a:ext cx="3420000" cy="216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01</a:t>
            </a:r>
          </a:p>
          <a:p xmlns:a="http://schemas.openxmlformats.org/drawingml/2006/main">
            <a:r>
              <a:rPr lang="en-US" sz="1100">
                <a:solidFill>
                  <a:srgbClr val="B0BEC5"/>
                </a:solidFill>
              </a:rPr>
              <a:t/>
            </a:r>
          </a:p>
          <a:p xmlns:a="http://schemas.openxmlformats.org/drawingml/2006/main">
            <a:r>
              <a:rPr lang="en-US" sz="1100">
                <a:solidFill>
                  <a:srgbClr val="B0BEC5"/>
                </a:solidFill>
              </a:rPr>
              <a:t>AI Resume Screener</a:t>
            </a:r>
          </a:p>
          <a:p xmlns:a="http://schemas.openxmlformats.org/drawingml/2006/main">
            <a:r>
              <a:rPr lang="en-US" sz="1100">
                <a:solidFill>
                  <a:srgbClr val="B0BEC5"/>
                </a:solidFill>
              </a:rPr>
              <a:t/>
            </a:r>
          </a:p>
          <a:p xmlns:a="http://schemas.openxmlformats.org/drawingml/2006/main">
            <a:r>
              <a:rPr lang="en-US" sz="1100">
                <a:solidFill>
                  <a:srgbClr val="B0BEC5"/>
                </a:solidFill>
              </a:rPr>
              <a:t>Agentic AI screens resumes &amp; ranks applicants using IBM Granite + LangChain. 70% faster HR screening.</a:t>
            </a:r>
          </a:p>
          <a:p xmlns:a="http://schemas.openxmlformats.org/drawingml/2006/main">
            <a:r>
              <a:rPr lang="en-US" sz="1100">
                <a:solidFill>
                  <a:srgbClr val="B0BEC5"/>
                </a:solidFill>
              </a:rPr>
              <a:t/>
            </a:r>
          </a:p>
          <a:p xmlns:a="http://schemas.openxmlformats.org/drawingml/2006/main">
            <a:r>
              <a:rPr lang="en-US" sz="1100">
                <a:solidFill>
                  <a:srgbClr val="B0BEC5"/>
                </a:solidFill>
              </a:rPr>
              <a:t>IBM Granite  LangChain  Python  React  FastAPI</a:t>
            </a:r>
          </a:p>
        </p:txBody>
      </p:sp>
      <p:sp>
        <p:nvSpPr>
          <p:cNvPr id="100130" name="P2"/>
          <p:cNvSpPr txBox="1"/>
          <p:nvPr/>
        </p:nvSpPr>
        <p:spPr>
          <a:xfrm xmlns:a="http://schemas.openxmlformats.org/drawingml/2006/main">
            <a:off x="4140000" y="1080000"/>
            <a:ext cx="3420000" cy="216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02</a:t>
            </a:r>
          </a:p>
          <a:p xmlns:a="http://schemas.openxmlformats.org/drawingml/2006/main">
            <a:r>
              <a:rPr lang="en-US" sz="1100">
                <a:solidFill>
                  <a:srgbClr val="B0BEC5"/>
                </a:solidFill>
              </a:rPr>
              <a:t/>
            </a:r>
          </a:p>
          <a:p xmlns:a="http://schemas.openxmlformats.org/drawingml/2006/main">
            <a:r>
              <a:rPr lang="en-US" sz="1100">
                <a:solidFill>
                  <a:srgbClr val="B0BEC5"/>
                </a:solidFill>
              </a:rPr>
              <a:t>SmartShop E-Commerce</a:t>
            </a:r>
          </a:p>
          <a:p xmlns:a="http://schemas.openxmlformats.org/drawingml/2006/main">
            <a:r>
              <a:rPr lang="en-US" sz="1100">
                <a:solidFill>
                  <a:srgbClr val="B0BEC5"/>
                </a:solidFill>
              </a:rPr>
              <a:t/>
            </a:r>
          </a:p>
          <a:p xmlns:a="http://schemas.openxmlformats.org/drawingml/2006/main">
            <a:r>
              <a:rPr lang="en-US" sz="1100">
                <a:solidFill>
                  <a:srgbClr val="B0BEC5"/>
                </a:solidFill>
              </a:rPr>
              <a:t>Full-stack e-commerce. 10,000+ concurrent users, 99.9% uptime on AWS, AI product recommendations.</a:t>
            </a:r>
          </a:p>
          <a:p xmlns:a="http://schemas.openxmlformats.org/drawingml/2006/main">
            <a:r>
              <a:rPr lang="en-US" sz="1100">
                <a:solidFill>
                  <a:srgbClr val="B0BEC5"/>
                </a:solidFill>
              </a:rPr>
              <a:t/>
            </a:r>
          </a:p>
          <a:p xmlns:a="http://schemas.openxmlformats.org/drawingml/2006/main">
            <a:r>
              <a:rPr lang="en-US" sz="1100">
                <a:solidFill>
                  <a:srgbClr val="B0BEC5"/>
                </a:solidFill>
              </a:rPr>
              <a:t>React.js  Node.js  MongoDB  Stripe  AWS</a:t>
            </a:r>
          </a:p>
        </p:txBody>
      </p:sp>
      <p:sp>
        <p:nvSpPr>
          <p:cNvPr id="100131" name="P3"/>
          <p:cNvSpPr txBox="1"/>
          <p:nvPr/>
        </p:nvSpPr>
        <p:spPr>
          <a:xfrm xmlns:a="http://schemas.openxmlformats.org/drawingml/2006/main">
            <a:off x="7920000" y="1080000"/>
            <a:ext cx="3420000" cy="216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03</a:t>
            </a:r>
          </a:p>
          <a:p xmlns:a="http://schemas.openxmlformats.org/drawingml/2006/main">
            <a:r>
              <a:rPr lang="en-US" sz="1100">
                <a:solidFill>
                  <a:srgbClr val="B0BEC5"/>
                </a:solidFill>
              </a:rPr>
              <a:t/>
            </a:r>
          </a:p>
          <a:p xmlns:a="http://schemas.openxmlformats.org/drawingml/2006/main">
            <a:r>
              <a:rPr lang="en-US" sz="1100">
                <a:solidFill>
                  <a:srgbClr val="B0BEC5"/>
                </a:solidFill>
              </a:rPr>
              <a:t>MedAssist Health Chatbot</a:t>
            </a:r>
          </a:p>
          <a:p xmlns:a="http://schemas.openxmlformats.org/drawingml/2006/main">
            <a:r>
              <a:rPr lang="en-US" sz="1100">
                <a:solidFill>
                  <a:srgbClr val="B0BEC5"/>
                </a:solidFill>
              </a:rPr>
              <a:t/>
            </a:r>
          </a:p>
          <a:p xmlns:a="http://schemas.openxmlformats.org/drawingml/2006/main">
            <a:r>
              <a:rPr lang="en-US" sz="1100">
                <a:solidFill>
                  <a:srgbClr val="B0BEC5"/>
                </a:solidFill>
              </a:rPr>
              <a:t>Conversational AI health assistant. Deployed at 3 hospitals. 95% query resolution accuracy.</a:t>
            </a:r>
          </a:p>
          <a:p xmlns:a="http://schemas.openxmlformats.org/drawingml/2006/main">
            <a:r>
              <a:rPr lang="en-US" sz="1100">
                <a:solidFill>
                  <a:srgbClr val="B0BEC5"/>
                </a:solidFill>
              </a:rPr>
              <a:t/>
            </a:r>
          </a:p>
          <a:p xmlns:a="http://schemas.openxmlformats.org/drawingml/2006/main">
            <a:r>
              <a:rPr lang="en-US" sz="1100">
                <a:solidFill>
                  <a:srgbClr val="B0BEC5"/>
                </a:solidFill>
              </a:rPr>
              <a:t>IBM Watson  React  Node.js  PostgreSQL  Docker</a:t>
            </a:r>
          </a:p>
        </p:txBody>
      </p:sp>
      <p:sp>
        <p:nvSpPr>
          <p:cNvPr id="100132" name="P4"/>
          <p:cNvSpPr txBox="1"/>
          <p:nvPr/>
        </p:nvSpPr>
        <p:spPr>
          <a:xfrm xmlns:a="http://schemas.openxmlformats.org/drawingml/2006/main">
            <a:off x="360000" y="342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04</a:t>
            </a:r>
          </a:p>
          <a:p xmlns:a="http://schemas.openxmlformats.org/drawingml/2006/main">
            <a:r>
              <a:rPr lang="en-US" sz="1100">
                <a:solidFill>
                  <a:srgbClr val="B0BEC5"/>
                </a:solidFill>
              </a:rPr>
              <a:t/>
            </a:r>
          </a:p>
          <a:p xmlns:a="http://schemas.openxmlformats.org/drawingml/2006/main">
            <a:r>
              <a:rPr lang="en-US" sz="1100">
                <a:solidFill>
                  <a:srgbClr val="B0BEC5"/>
                </a:solidFill>
              </a:rPr>
              <a:t>DevOps Automation Suite</a:t>
            </a:r>
          </a:p>
          <a:p xmlns:a="http://schemas.openxmlformats.org/drawingml/2006/main">
            <a:r>
              <a:rPr lang="en-US" sz="1100">
                <a:solidFill>
                  <a:srgbClr val="B0BEC5"/>
                </a:solidFill>
              </a:rPr>
              <a:t/>
            </a:r>
          </a:p>
          <a:p xmlns:a="http://schemas.openxmlformats.org/drawingml/2006/main">
            <a:r>
              <a:rPr lang="en-US" sz="1100">
                <a:solidFill>
                  <a:srgbClr val="B0BEC5"/>
                </a:solidFill>
              </a:rPr>
              <a:t>CI/CD automation. Deployment time: 2 hours → 8 minutes with Kubernetes auto-scaling.</a:t>
            </a:r>
          </a:p>
          <a:p xmlns:a="http://schemas.openxmlformats.org/drawingml/2006/main">
            <a:r>
              <a:rPr lang="en-US" sz="1100">
                <a:solidFill>
                  <a:srgbClr val="B0BEC5"/>
                </a:solidFill>
              </a:rPr>
              <a:t/>
            </a:r>
          </a:p>
          <a:p xmlns:a="http://schemas.openxmlformats.org/drawingml/2006/main">
            <a:r>
              <a:rPr lang="en-US" sz="1100">
                <a:solidFill>
                  <a:srgbClr val="B0BEC5"/>
                </a:solidFill>
              </a:rPr>
              <a:t>Kubernetes  Docker  Jenkins  Python  Prometheus</a:t>
            </a:r>
          </a:p>
        </p:txBody>
      </p:sp>
      <p:sp>
        <p:nvSpPr>
          <p:cNvPr id="100133" name="P5"/>
          <p:cNvSpPr txBox="1"/>
          <p:nvPr/>
        </p:nvSpPr>
        <p:spPr>
          <a:xfrm xmlns:a="http://schemas.openxmlformats.org/drawingml/2006/main">
            <a:off x="4140000" y="342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05</a:t>
            </a:r>
          </a:p>
          <a:p xmlns:a="http://schemas.openxmlformats.org/drawingml/2006/main">
            <a:r>
              <a:rPr lang="en-US" sz="1100">
                <a:solidFill>
                  <a:srgbClr val="B0BEC5"/>
                </a:solidFill>
              </a:rPr>
              <a:t/>
            </a:r>
          </a:p>
          <a:p xmlns:a="http://schemas.openxmlformats.org/drawingml/2006/main">
            <a:r>
              <a:rPr lang="en-US" sz="1100">
                <a:solidFill>
                  <a:srgbClr val="B0BEC5"/>
                </a:solidFill>
              </a:rPr>
              <a:t>Portfolio AI Assistant</a:t>
            </a:r>
          </a:p>
          <a:p xmlns:a="http://schemas.openxmlformats.org/drawingml/2006/main">
            <a:r>
              <a:rPr lang="en-US" sz="1100">
                <a:solidFill>
                  <a:srgbClr val="B0BEC5"/>
                </a:solidFill>
              </a:rPr>
              <a:t/>
            </a:r>
          </a:p>
          <a:p xmlns:a="http://schemas.openxmlformats.org/drawingml/2006/main">
            <a:r>
              <a:rPr lang="en-US" sz="1100">
                <a:solidFill>
                  <a:srgbClr val="B0BEC5"/>
                </a:solidFill>
              </a:rPr>
              <a:t>This website. IBM Granite Agentic AI. Perceive-Plan-Act-Reflect loop. Full Agentic AI SDLC.</a:t>
            </a:r>
          </a:p>
          <a:p xmlns:a="http://schemas.openxmlformats.org/drawingml/2006/main">
            <a:r>
              <a:rPr lang="en-US" sz="1100">
                <a:solidFill>
                  <a:srgbClr val="B0BEC5"/>
                </a:solidFill>
              </a:rPr>
              <a:t/>
            </a:r>
          </a:p>
          <a:p xmlns:a="http://schemas.openxmlformats.org/drawingml/2006/main">
            <a:r>
              <a:rPr lang="en-US" sz="1100">
                <a:solidFill>
                  <a:srgbClr val="B0BEC5"/>
                </a:solidFill>
              </a:rPr>
              <a:t>IBM Granite  JS  HTML5/CSS3</a:t>
            </a:r>
          </a:p>
        </p:txBody>
      </p:sp>
      <p:sp>
        <p:nvSpPr>
          <p:cNvPr id="100134" name="P6"/>
          <p:cNvSpPr txBox="1"/>
          <p:nvPr/>
        </p:nvSpPr>
        <p:spPr>
          <a:xfrm xmlns:a="http://schemas.openxmlformats.org/drawingml/2006/main">
            <a:off x="7920000" y="3420000"/>
            <a:ext cx="3420000" cy="1440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100">
                <a:solidFill>
                  <a:srgbClr val="B0BEC5"/>
                </a:solidFill>
              </a:rPr>
              <a:t>PROJECT 06</a:t>
            </a:r>
          </a:p>
          <a:p xmlns:a="http://schemas.openxmlformats.org/drawingml/2006/main">
            <a:r>
              <a:rPr lang="en-US" sz="1100">
                <a:solidFill>
                  <a:srgbClr val="B0BEC5"/>
                </a:solidFill>
              </a:rPr>
              <a:t/>
            </a:r>
          </a:p>
          <a:p xmlns:a="http://schemas.openxmlformats.org/drawingml/2006/main">
            <a:r>
              <a:rPr lang="en-US" sz="1100">
                <a:solidFill>
                  <a:srgbClr val="B0BEC5"/>
                </a:solidFill>
              </a:rPr>
              <a:t>Quantum ML Experiments</a:t>
            </a:r>
          </a:p>
          <a:p xmlns:a="http://schemas.openxmlformats.org/drawingml/2006/main">
            <a:r>
              <a:rPr lang="en-US" sz="1100">
                <a:solidFill>
                  <a:srgbClr val="B0BEC5"/>
                </a:solidFill>
              </a:rPr>
              <a:t/>
            </a:r>
          </a:p>
          <a:p xmlns:a="http://schemas.openxmlformats.org/drawingml/2006/main">
            <a:r>
              <a:rPr lang="en-US" sz="1100">
                <a:solidFill>
                  <a:srgbClr val="B0BEC5"/>
                </a:solidFill>
              </a:rPr>
              <a:t>VQC for classification. 15% accuracy improvement over classical SVM on MNIST.</a:t>
            </a:r>
          </a:p>
          <a:p xmlns:a="http://schemas.openxmlformats.org/drawingml/2006/main">
            <a:r>
              <a:rPr lang="en-US" sz="1100">
                <a:solidFill>
                  <a:srgbClr val="B0BEC5"/>
                </a:solidFill>
              </a:rPr>
              <a:t/>
            </a:r>
          </a:p>
          <a:p xmlns:a="http://schemas.openxmlformats.org/drawingml/2006/main">
            <a:r>
              <a:rPr lang="en-US" sz="1100">
                <a:solidFill>
                  <a:srgbClr val="B0BEC5"/>
                </a:solidFill>
              </a:rPr>
              <a:t>IBM Qiskit  Python  NumPy  Jupyter</a:t>
            </a:r>
          </a:p>
        </p:txBody>
      </p:sp>
    </p:spTree>
  </p:cSld>
  <p:transition advTm="7500"/>
</p:sld>
</file>

<file path=ppt/slides/slide14.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35"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4D8"/>
          </a:solidFill>
        </p:spPr>
        <p:txBody>
          <a:bodyPr xmlns:a="http://schemas.openxmlformats.org/drawingml/2006/main"/>
          <a:lstStyle xmlns:a="http://schemas.openxmlformats.org/drawingml/2006/main"/>
          <a:p xmlns:a="http://schemas.openxmlformats.org/drawingml/2006/main">
            <a:endParaRPr lang="en-US" sz="1000"/>
          </a:p>
        </p:txBody>
      </p:sp>
      <p:sp>
        <p:nvSpPr>
          <p:cNvPr id="100136" name="Label"/>
          <p:cNvSpPr txBox="1"/>
          <p:nvPr/>
        </p:nvSpPr>
        <p:spPr>
          <a:xfrm xmlns:a="http://schemas.openxmlformats.org/drawingml/2006/main">
            <a:off x="540000" y="252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0B4D8"/>
                </a:solidFill>
              </a:rPr>
              <a:t>PORTFOLIO SCREENSHOT — EDUCATION &amp; CERTIFICATIONS</a:t>
            </a:r>
          </a:p>
        </p:txBody>
      </p:sp>
      <p:sp>
        <p:nvSpPr>
          <p:cNvPr id="100137" name="EduTitle"/>
          <p:cNvSpPr txBox="1"/>
          <p:nvPr/>
        </p:nvSpPr>
        <p:spPr>
          <a:xfrm xmlns:a="http://schemas.openxmlformats.org/drawingml/2006/main">
            <a:off x="540000" y="540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FFFFFF"/>
                </a:solidFill>
              </a:rPr>
              <a:t>Education Timeline</a:t>
            </a:r>
          </a:p>
        </p:txBody>
      </p:sp>
      <p:sp>
        <p:nvSpPr>
          <p:cNvPr id="100138" name="E1"/>
          <p:cNvSpPr txBox="1"/>
          <p:nvPr/>
        </p:nvSpPr>
        <p:spPr>
          <a:xfrm xmlns:a="http://schemas.openxmlformats.org/drawingml/2006/main">
            <a:off x="900000" y="1080000"/>
            <a:ext cx="4680000" cy="792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B.Tech — Computer Science &amp; Engineering</a:t>
            </a:r>
          </a:p>
          <a:p xmlns:a="http://schemas.openxmlformats.org/drawingml/2006/main">
            <a:r>
              <a:rPr lang="en-US" sz="1300">
                <a:solidFill>
                  <a:srgbClr val="B0BEC5"/>
                </a:solidFill>
              </a:rPr>
              <a:t>JNTU Hyderabad  |  2018–2022  |  CGPA: 8.4/10</a:t>
            </a:r>
          </a:p>
          <a:p xmlns:a="http://schemas.openxmlformats.org/drawingml/2006/main">
            <a:r>
              <a:rPr lang="en-US" sz="1300">
                <a:solidFill>
                  <a:srgbClr val="B0BEC5"/>
                </a:solidFill>
              </a:rPr>
              <a:t>Specialized in AI &amp; Data Science</a:t>
            </a:r>
          </a:p>
        </p:txBody>
      </p:sp>
      <p:sp>
        <p:nvSpPr>
          <p:cNvPr id="100139" name="E2"/>
          <p:cNvSpPr txBox="1"/>
          <p:nvPr/>
        </p:nvSpPr>
        <p:spPr>
          <a:xfrm xmlns:a="http://schemas.openxmlformats.org/drawingml/2006/main">
            <a:off x="900000" y="1980000"/>
            <a:ext cx="4680000" cy="792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Intermediate (12th) — MPC</a:t>
            </a:r>
          </a:p>
          <a:p xmlns:a="http://schemas.openxmlformats.org/drawingml/2006/main">
            <a:r>
              <a:rPr lang="en-US" sz="1300">
                <a:solidFill>
                  <a:srgbClr val="B0BEC5"/>
                </a:solidFill>
              </a:rPr>
              <a:t>Narayana Junior College  |  2016–2018  |  96.2%</a:t>
            </a:r>
          </a:p>
          <a:p xmlns:a="http://schemas.openxmlformats.org/drawingml/2006/main">
            <a:r>
              <a:rPr lang="en-US" sz="1300">
                <a:solidFill>
                  <a:srgbClr val="B0BEC5"/>
                </a:solidFill>
              </a:rPr>
              <a:t>State rank holder in Mathematics</a:t>
            </a:r>
          </a:p>
        </p:txBody>
      </p:sp>
      <p:sp>
        <p:nvSpPr>
          <p:cNvPr id="100140" name="E3"/>
          <p:cNvSpPr txBox="1"/>
          <p:nvPr/>
        </p:nvSpPr>
        <p:spPr>
          <a:xfrm xmlns:a="http://schemas.openxmlformats.org/drawingml/2006/main">
            <a:off x="900000" y="2880000"/>
            <a:ext cx="4680000" cy="792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Secondary School Certificate (10th)</a:t>
            </a:r>
          </a:p>
          <a:p xmlns:a="http://schemas.openxmlformats.org/drawingml/2006/main">
            <a:r>
              <a:rPr lang="en-US" sz="1300">
                <a:solidFill>
                  <a:srgbClr val="B0BEC5"/>
                </a:solidFill>
              </a:rPr>
              <a:t>Sri Chaitanya School  |  2016  |  GPA 9.8/10</a:t>
            </a:r>
          </a:p>
          <a:p xmlns:a="http://schemas.openxmlformats.org/drawingml/2006/main">
            <a:r>
              <a:rPr lang="en-US" sz="1300">
                <a:solidFill>
                  <a:srgbClr val="B0BEC5"/>
                </a:solidFill>
              </a:rPr>
              <a:t>School topper in Mathematics &amp; CS</a:t>
            </a:r>
          </a:p>
        </p:txBody>
      </p:sp>
      <p:sp>
        <p:nvSpPr>
          <p:cNvPr id="100141" name="CertTitle"/>
          <p:cNvSpPr txBox="1"/>
          <p:nvPr/>
        </p:nvSpPr>
        <p:spPr>
          <a:xfrm xmlns:a="http://schemas.openxmlformats.org/drawingml/2006/main">
            <a:off x="6480000" y="540000"/>
            <a:ext cx="46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FFFFFF"/>
                </a:solidFill>
              </a:rPr>
              <a:t>Certifications</a:t>
            </a:r>
          </a:p>
        </p:txBody>
      </p:sp>
      <p:sp>
        <p:nvSpPr>
          <p:cNvPr id="100142" name="Cert1"/>
          <p:cNvSpPr txBox="1"/>
          <p:nvPr/>
        </p:nvSpPr>
        <p:spPr>
          <a:xfrm xmlns:a="http://schemas.openxmlformats.org/drawingml/2006/main">
            <a:off x="6480000" y="1080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IBM watsonx.ai Essentials — IBM (2024)</a:t>
            </a:r>
          </a:p>
        </p:txBody>
      </p:sp>
      <p:sp>
        <p:nvSpPr>
          <p:cNvPr id="100143" name="Cert2"/>
          <p:cNvSpPr txBox="1"/>
          <p:nvPr/>
        </p:nvSpPr>
        <p:spPr>
          <a:xfrm xmlns:a="http://schemas.openxmlformats.org/drawingml/2006/main">
            <a:off x="6480000" y="1476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AWS Certified Solutions Architect (2023)</a:t>
            </a:r>
          </a:p>
        </p:txBody>
      </p:sp>
      <p:sp>
        <p:nvSpPr>
          <p:cNvPr id="100144" name="Cert3"/>
          <p:cNvSpPr txBox="1"/>
          <p:nvPr/>
        </p:nvSpPr>
        <p:spPr>
          <a:xfrm xmlns:a="http://schemas.openxmlformats.org/drawingml/2006/main">
            <a:off x="6480000" y="1872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Google Professional Data Engineer (2023)</a:t>
            </a:r>
          </a:p>
        </p:txBody>
      </p:sp>
      <p:sp>
        <p:nvSpPr>
          <p:cNvPr id="100145" name="Cert4"/>
          <p:cNvSpPr txBox="1"/>
          <p:nvPr/>
        </p:nvSpPr>
        <p:spPr>
          <a:xfrm xmlns:a="http://schemas.openxmlformats.org/drawingml/2006/main">
            <a:off x="6480000" y="2268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Meta React Developer Certificate (2022)</a:t>
            </a:r>
          </a:p>
        </p:txBody>
      </p:sp>
      <p:sp>
        <p:nvSpPr>
          <p:cNvPr id="100146" name="Cert5"/>
          <p:cNvSpPr txBox="1"/>
          <p:nvPr/>
        </p:nvSpPr>
        <p:spPr>
          <a:xfrm xmlns:a="http://schemas.openxmlformats.org/drawingml/2006/main">
            <a:off x="6480000" y="2664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IBM AI Foundations for Business (2024)</a:t>
            </a:r>
          </a:p>
        </p:txBody>
      </p:sp>
      <p:sp>
        <p:nvSpPr>
          <p:cNvPr id="100147" name="Cert6"/>
          <p:cNvSpPr txBox="1"/>
          <p:nvPr/>
        </p:nvSpPr>
        <p:spPr>
          <a:xfrm xmlns:a="http://schemas.openxmlformats.org/drawingml/2006/main">
            <a:off x="6480000" y="3060000"/>
            <a:ext cx="4680000" cy="324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1">
                <a:solidFill>
                  <a:srgbClr val="0F62FE"/>
                </a:solidFill>
              </a:rPr>
              <a:t>Agentic AI Practitioner — Eluri Narendra (2024)</a:t>
            </a:r>
          </a:p>
        </p:txBody>
      </p:sp>
    </p:spTree>
  </p:cSld>
  <p:transition advTm="7500"/>
</p:sld>
</file>

<file path=ppt/slides/slide15.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48"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149" name="Label"/>
          <p:cNvSpPr txBox="1"/>
          <p:nvPr/>
        </p:nvSpPr>
        <p:spPr>
          <a:xfrm xmlns:a="http://schemas.openxmlformats.org/drawingml/2006/main">
            <a:off x="540000" y="252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PORTFOLIO SCREENSHOT — IBM GRANITE AI CHAT WIDGET</a:t>
            </a:r>
          </a:p>
        </p:txBody>
      </p:sp>
      <p:sp>
        <p:nvSpPr>
          <p:cNvPr id="100150" name="Title"/>
          <p:cNvSpPr txBox="1"/>
          <p:nvPr/>
        </p:nvSpPr>
        <p:spPr>
          <a:xfrm xmlns:a="http://schemas.openxmlformats.org/drawingml/2006/main">
            <a:off x="540000" y="5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IBM Granite AI Assistant — Live Chat UI</a:t>
            </a:r>
          </a:p>
        </p:txBody>
      </p:sp>
      <p:sp>
        <p:nvSpPr>
          <p:cNvPr id="100151" name="ChatHeader"/>
          <p:cNvSpPr txBox="1"/>
          <p:nvPr/>
        </p:nvSpPr>
        <p:spPr>
          <a:xfrm xmlns:a="http://schemas.openxmlformats.org/drawingml/2006/main">
            <a:off x="3240000" y="1080000"/>
            <a:ext cx="5040000" cy="288000"/>
          </a:xfrm>
          <a:prstGeom xmlns:a="http://schemas.openxmlformats.org/drawingml/2006/main" prst="rect">
            <a:avLst/>
          </a:prstGeom>
          <a:solidFill xmlns:a="http://schemas.openxmlformats.org/drawingml/2006/main">
            <a:srgbClr val="1A2236"/>
          </a:solidFill>
        </p:spPr>
        <p:txBody>
          <a:bodyPr xmlns:a="http://schemas.openxmlformats.org/drawingml/2006/main"/>
          <a:lstStyle xmlns:a="http://schemas.openxmlformats.org/drawingml/2006/main"/>
          <a:p xmlns:a="http://schemas.openxmlformats.org/drawingml/2006/main">
            <a:r>
              <a:rPr lang="en-US" sz="1200">
                <a:solidFill>
                  <a:srgbClr val="E8EAF6"/>
                </a:solidFill>
              </a:rPr>
              <a:t>  [IBM]  Granite AI Assistant   Powered by IBM Granite   [green dot]  [X]</a:t>
            </a:r>
          </a:p>
        </p:txBody>
      </p:sp>
      <p:sp>
        <p:nvSpPr>
          <p:cNvPr id="100152" name="BotMsg1"/>
          <p:cNvSpPr txBox="1"/>
          <p:nvPr/>
        </p:nvSpPr>
        <p:spPr>
          <a:xfrm xmlns:a="http://schemas.openxmlformats.org/drawingml/2006/main">
            <a:off x="3240000" y="1476000"/>
            <a:ext cx="3960000" cy="540000"/>
          </a:xfrm>
          <a:prstGeom xmlns:a="http://schemas.openxmlformats.org/drawingml/2006/main" prst="rect">
            <a:avLst/>
          </a:prstGeom>
          <a:solidFill xmlns:a="http://schemas.openxmlformats.org/drawingml/2006/main">
            <a:srgbClr val="1A2236"/>
          </a:solidFill>
        </p:spPr>
        <p:txBody>
          <a:bodyPr xmlns:a="http://schemas.openxmlformats.org/drawingml/2006/main"/>
          <a:lstStyle xmlns:a="http://schemas.openxmlformats.org/drawingml/2006/main"/>
          <a:p xmlns:a="http://schemas.openxmlformats.org/drawingml/2006/main">
            <a:r>
              <a:rPr lang="en-US" sz="1200">
                <a:solidFill>
                  <a:srgbClr val="E8EAF6"/>
                </a:solidFill>
              </a:rPr>
              <a:t>Granite AI: Hi! I'm Yogesh's IBM Granite AI assistant. Ask me about his skills, projects, education, or how to hire him!</a:t>
            </a:r>
          </a:p>
        </p:txBody>
      </p:sp>
      <p:sp>
        <p:nvSpPr>
          <p:cNvPr id="100153" name="UserMsg"/>
          <p:cNvSpPr txBox="1"/>
          <p:nvPr/>
        </p:nvSpPr>
        <p:spPr>
          <a:xfrm xmlns:a="http://schemas.openxmlformats.org/drawingml/2006/main">
            <a:off x="4320000" y="2196000"/>
            <a:ext cx="3240000" cy="2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What are Yogesh's skills?</a:t>
            </a:r>
          </a:p>
        </p:txBody>
      </p:sp>
      <p:sp>
        <p:nvSpPr>
          <p:cNvPr id="100154" name="BotMsg2"/>
          <p:cNvSpPr txBox="1"/>
          <p:nvPr/>
        </p:nvSpPr>
        <p:spPr>
          <a:xfrm xmlns:a="http://schemas.openxmlformats.org/drawingml/2006/main">
            <a:off x="3240000" y="2592000"/>
            <a:ext cx="3960000" cy="1080000"/>
          </a:xfrm>
          <a:prstGeom xmlns:a="http://schemas.openxmlformats.org/drawingml/2006/main" prst="rect">
            <a:avLst/>
          </a:prstGeom>
          <a:solidFill xmlns:a="http://schemas.openxmlformats.org/drawingml/2006/main">
            <a:srgbClr val="1A2236"/>
          </a:solidFill>
        </p:spPr>
        <p:txBody>
          <a:bodyPr xmlns:a="http://schemas.openxmlformats.org/drawingml/2006/main"/>
          <a:lstStyle xmlns:a="http://schemas.openxmlformats.org/drawingml/2006/main"/>
          <a:p xmlns:a="http://schemas.openxmlformats.org/drawingml/2006/main">
            <a:r>
              <a:rPr lang="en-US" sz="1100">
                <a:solidFill>
                  <a:srgbClr val="B0BEC5"/>
                </a:solidFill>
              </a:rPr>
              <a:t>Granite AI:  Skills</a:t>
            </a:r>
          </a:p>
          <a:p xmlns:a="http://schemas.openxmlformats.org/drawingml/2006/main">
            <a:r>
              <a:rPr lang="en-US" sz="1100">
                <a:solidFill>
                  <a:srgbClr val="B0BEC5"/>
                </a:solidFill>
              </a:rPr>
              <a:t/>
            </a:r>
          </a:p>
          <a:p xmlns:a="http://schemas.openxmlformats.org/drawingml/2006/main">
            <a:r>
              <a:rPr lang="en-US" sz="1100">
                <a:solidFill>
                  <a:srgbClr val="B0BEC5"/>
                </a:solidFill>
              </a:rPr>
              <a:t>Technical: JavaScript, TypeScript, React.js, Node.js, Python, HTML5, CSS3...</a:t>
            </a:r>
          </a:p>
          <a:p xmlns:a="http://schemas.openxmlformats.org/drawingml/2006/main">
            <a:r>
              <a:rPr lang="en-US" sz="1100">
                <a:solidFill>
                  <a:srgbClr val="B0BEC5"/>
                </a:solidFill>
              </a:rPr>
              <a:t>AI &amp; ML: IBM Granite, LangChain, TensorFlow, PyTorch, Agentic AI...</a:t>
            </a:r>
          </a:p>
          <a:p xmlns:a="http://schemas.openxmlformats.org/drawingml/2006/main">
            <a:r>
              <a:rPr lang="en-US" sz="1100">
                <a:solidFill>
                  <a:srgbClr val="B0BEC5"/>
                </a:solidFill>
              </a:rPr>
              <a:t>Tools: IBM Cloud, AWS, Docker, Kubernetes...</a:t>
            </a:r>
          </a:p>
          <a:p xmlns:a="http://schemas.openxmlformats.org/drawingml/2006/main">
            <a:r>
              <a:rPr lang="en-US" sz="1100">
                <a:solidFill>
                  <a:srgbClr val="B0BEC5"/>
                </a:solidFill>
              </a:rPr>
              <a:t/>
            </a:r>
          </a:p>
          <a:p xmlns:a="http://schemas.openxmlformats.org/drawingml/2006/main">
            <a:r>
              <a:rPr lang="en-US" sz="1100">
                <a:solidFill>
                  <a:srgbClr val="B0BEC5"/>
                </a:solidFill>
              </a:rPr>
              <a:t>Want details on any specific skill area?</a:t>
            </a:r>
          </a:p>
        </p:txBody>
      </p:sp>
      <p:sp>
        <p:nvSpPr>
          <p:cNvPr id="100155" name="Suggestions"/>
          <p:cNvSpPr txBox="1"/>
          <p:nvPr/>
        </p:nvSpPr>
        <p:spPr>
          <a:xfrm xmlns:a="http://schemas.openxmlformats.org/drawingml/2006/main">
            <a:off x="3240000" y="3780000"/>
            <a:ext cx="5040000" cy="216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100">
                <a:solidFill>
                  <a:srgbClr val="0F62FE"/>
                </a:solidFill>
              </a:rPr>
              <a:t>[Skills]  [Projects]  [Education]  [Contact]  [Hire]</a:t>
            </a:r>
          </a:p>
        </p:txBody>
      </p:sp>
      <p:sp>
        <p:nvSpPr>
          <p:cNvPr id="100156" name="InputRow"/>
          <p:cNvSpPr txBox="1"/>
          <p:nvPr/>
        </p:nvSpPr>
        <p:spPr>
          <a:xfrm xmlns:a="http://schemas.openxmlformats.org/drawingml/2006/main">
            <a:off x="3240000" y="4104000"/>
            <a:ext cx="5040000" cy="252000"/>
          </a:xfrm>
          <a:prstGeom xmlns:a="http://schemas.openxmlformats.org/drawingml/2006/main" prst="rect">
            <a:avLst/>
          </a:prstGeom>
          <a:solidFill xmlns:a="http://schemas.openxmlformats.org/drawingml/2006/main">
            <a:srgbClr val="1A2236"/>
          </a:solidFill>
        </p:spPr>
        <p:txBody>
          <a:bodyPr xmlns:a="http://schemas.openxmlformats.org/drawingml/2006/main"/>
          <a:lstStyle xmlns:a="http://schemas.openxmlformats.org/drawingml/2006/main"/>
          <a:p xmlns:a="http://schemas.openxmlformats.org/drawingml/2006/main">
            <a:r>
              <a:rPr lang="en-US" sz="1200">
                <a:solidFill>
                  <a:srgbClr val="57606A"/>
                </a:solidFill>
              </a:rPr>
              <a:t>  Ask anything about Yogesh...                              [&gt;]</a:t>
            </a:r>
          </a:p>
        </p:txBody>
      </p:sp>
      <p:sp>
        <p:nvSpPr>
          <p:cNvPr id="100157" name="GraniteBadge"/>
          <p:cNvSpPr txBox="1"/>
          <p:nvPr/>
        </p:nvSpPr>
        <p:spPr>
          <a:xfrm xmlns:a="http://schemas.openxmlformats.org/drawingml/2006/main">
            <a:off x="3240000" y="4428000"/>
            <a:ext cx="5040000" cy="216000"/>
          </a:xfrm>
          <a:prstGeom xmlns:a="http://schemas.openxmlformats.org/drawingml/2006/main" prst="rect">
            <a:avLst/>
          </a:prstGeom>
          <a:solidFill xmlns:a="http://schemas.openxmlformats.org/drawingml/2006/main">
            <a:srgbClr val="0A0E1A"/>
          </a:solidFill>
        </p:spPr>
        <p:txBody>
          <a:bodyPr xmlns:a="http://schemas.openxmlformats.org/drawingml/2006/main"/>
          <a:lstStyle xmlns:a="http://schemas.openxmlformats.org/drawingml/2006/main"/>
          <a:p xmlns:a="http://schemas.openxmlformats.org/drawingml/2006/main">
            <a:r>
              <a:rPr lang="en-US" sz="1000">
                <a:solidFill>
                  <a:srgbClr val="57606A"/>
                </a:solidFill>
              </a:rPr>
              <a:t>Agentic AI  |  IBM Granite  |  Perceive-&gt;Plan-&gt;Act-&gt;Reflect</a:t>
            </a:r>
          </a:p>
        </p:txBody>
      </p:sp>
      <p:sp>
        <p:nvSpPr>
          <p:cNvPr id="100158" name="FAB"/>
          <p:cNvSpPr txBox="1"/>
          <p:nvPr/>
        </p:nvSpPr>
        <p:spPr>
          <a:xfrm xmlns:a="http://schemas.openxmlformats.org/drawingml/2006/main">
            <a:off x="8640000" y="3960000"/>
            <a:ext cx="648000" cy="64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1">
                <a:solidFill>
                  <a:srgbClr val="FFFFFF"/>
                </a:solidFill>
              </a:rPr>
              <a:t>AI</a:t>
            </a:r>
          </a:p>
        </p:txBody>
      </p:sp>
      <p:sp>
        <p:nvSpPr>
          <p:cNvPr id="100159" name="FlowAnnotation"/>
          <p:cNvSpPr txBox="1"/>
          <p:nvPr/>
        </p:nvSpPr>
        <p:spPr>
          <a:xfrm xmlns:a="http://schemas.openxmlformats.org/drawingml/2006/main">
            <a:off x="540000" y="1440000"/>
            <a:ext cx="2340000" cy="16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8892A4"/>
                </a:solidFill>
              </a:rPr>
              <a:t>Intent Classified: 'skills'</a:t>
            </a:r>
          </a:p>
          <a:p xmlns:a="http://schemas.openxmlformats.org/drawingml/2006/main">
            <a:r>
              <a:rPr lang="en-US" sz="1200">
                <a:solidFill>
                  <a:srgbClr val="8892A4"/>
                </a:solidFill>
              </a:rPr>
              <a:t>Confidence Score: 0.9</a:t>
            </a:r>
          </a:p>
          <a:p xmlns:a="http://schemas.openxmlformats.org/drawingml/2006/main">
            <a:r>
              <a:rPr lang="en-US" sz="1200">
                <a:solidFill>
                  <a:srgbClr val="8892A4"/>
                </a:solidFill>
              </a:rPr>
              <a:t>KB Retrieved: skills.technical + skills.ai_ml + skills.tools</a:t>
            </a:r>
          </a:p>
          <a:p xmlns:a="http://schemas.openxmlformats.org/drawingml/2006/main">
            <a:r>
              <a:rPr lang="en-US" sz="1200">
                <a:solidFill>
                  <a:srgbClr val="8892A4"/>
                </a:solidFill>
              </a:rPr>
              <a:t>Response Generated: 4-section formatted reply</a:t>
            </a:r>
          </a:p>
          <a:p xmlns:a="http://schemas.openxmlformats.org/drawingml/2006/main">
            <a:r>
              <a:rPr lang="en-US" sz="1200">
                <a:solidFill>
                  <a:srgbClr val="8892A4"/>
                </a:solidFill>
              </a:rPr>
              <a:t>Reflection: confidence &gt;= 0.5 — no tip added</a:t>
            </a:r>
          </a:p>
        </p:txBody>
      </p:sp>
    </p:spTree>
  </p:cSld>
  <p:transition advTm="7500"/>
</p:sld>
</file>

<file path=ppt/slides/slide16.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60"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43CE"/>
          </a:solidFill>
        </p:spPr>
        <p:txBody>
          <a:bodyPr xmlns:a="http://schemas.openxmlformats.org/drawingml/2006/main"/>
          <a:lstStyle xmlns:a="http://schemas.openxmlformats.org/drawingml/2006/main"/>
          <a:p xmlns:a="http://schemas.openxmlformats.org/drawingml/2006/main">
            <a:endParaRPr lang="en-US" sz="1000"/>
          </a:p>
        </p:txBody>
      </p:sp>
      <p:sp>
        <p:nvSpPr>
          <p:cNvPr id="100161" name="Label"/>
          <p:cNvSpPr txBox="1"/>
          <p:nvPr/>
        </p:nvSpPr>
        <p:spPr>
          <a:xfrm xmlns:a="http://schemas.openxmlformats.org/drawingml/2006/main">
            <a:off x="540000" y="252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043CE"/>
                </a:solidFill>
              </a:rPr>
              <a:t>AGENTIC AI ENGINE — agent.js CODE WALKTHROUGH</a:t>
            </a:r>
          </a:p>
        </p:txBody>
      </p:sp>
      <p:sp>
        <p:nvSpPr>
          <p:cNvPr id="100162" name="Title"/>
          <p:cNvSpPr txBox="1"/>
          <p:nvPr/>
        </p:nvSpPr>
        <p:spPr>
          <a:xfrm xmlns:a="http://schemas.openxmlformats.org/drawingml/2006/main">
            <a:off x="540000" y="5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IBM Granite Engine: Key Code Sections</a:t>
            </a:r>
          </a:p>
        </p:txBody>
      </p:sp>
      <p:sp>
        <p:nvSpPr>
          <p:cNvPr id="100163" name="Code1H"/>
          <p:cNvSpPr txBox="1"/>
          <p:nvPr/>
        </p:nvSpPr>
        <p:spPr>
          <a:xfrm xmlns:a="http://schemas.openxmlformats.org/drawingml/2006/main">
            <a:off x="540000" y="1080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b="1">
                <a:solidFill>
                  <a:srgbClr val="0F62FE"/>
                </a:solidFill>
              </a:rPr>
              <a:t>GRANITE_CONFIG (mirrors .env)</a:t>
            </a:r>
          </a:p>
        </p:txBody>
      </p:sp>
      <p:sp>
        <p:nvSpPr>
          <p:cNvPr id="100164" name="Code1"/>
          <p:cNvSpPr txBox="1"/>
          <p:nvPr/>
        </p:nvSpPr>
        <p:spPr>
          <a:xfrm xmlns:a="http://schemas.openxmlformats.org/drawingml/2006/main">
            <a:off x="540000" y="1296000"/>
            <a:ext cx="5040000" cy="100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const GRANITE_CONFIG = {</a:t>
            </a:r>
          </a:p>
          <a:p xmlns:a="http://schemas.openxmlformats.org/drawingml/2006/main">
            <a:r>
              <a:rPr lang="en-US" sz="1200">
                <a:solidFill>
                  <a:srgbClr val="B0BEC5"/>
                </a:solidFill>
              </a:rPr>
              <a:t>  projectId: '70838522-da0e-48f1-b5aa...',</a:t>
            </a:r>
          </a:p>
          <a:p xmlns:a="http://schemas.openxmlformats.org/drawingml/2006/main">
            <a:r>
              <a:rPr lang="en-US" sz="1200">
                <a:solidFill>
                  <a:srgbClr val="B0BEC5"/>
                </a:solidFill>
              </a:rPr>
              <a:t>  region: 'https://us-south.ml.cloud.ibm.com',</a:t>
            </a:r>
          </a:p>
          <a:p xmlns:a="http://schemas.openxmlformats.org/drawingml/2006/main">
            <a:r>
              <a:rPr lang="en-US" sz="1200">
                <a:solidFill>
                  <a:srgbClr val="B0BEC5"/>
                </a:solidFill>
              </a:rPr>
              <a:t>  modelId: 'ibm/granite-13b-chat-v2',</a:t>
            </a:r>
          </a:p>
          <a:p xmlns:a="http://schemas.openxmlformats.org/drawingml/2006/main">
            <a:r>
              <a:rPr lang="en-US" sz="1200">
                <a:solidFill>
                  <a:srgbClr val="B0BEC5"/>
                </a:solidFill>
              </a:rPr>
              <a:t>  port: 3000</a:t>
            </a:r>
          </a:p>
          <a:p xmlns:a="http://schemas.openxmlformats.org/drawingml/2006/main">
            <a:r>
              <a:rPr lang="en-US" sz="1200">
                <a:solidFill>
                  <a:srgbClr val="B0BEC5"/>
                </a:solidFill>
              </a:rPr>
              <a:t>};</a:t>
            </a:r>
          </a:p>
        </p:txBody>
      </p:sp>
      <p:sp>
        <p:nvSpPr>
          <p:cNvPr id="100165" name="Code2H"/>
          <p:cNvSpPr txBox="1"/>
          <p:nvPr/>
        </p:nvSpPr>
        <p:spPr>
          <a:xfrm xmlns:a="http://schemas.openxmlformats.org/drawingml/2006/main">
            <a:off x="540000" y="2412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b="1">
                <a:solidFill>
                  <a:srgbClr val="6929C4"/>
                </a:solidFill>
              </a:rPr>
              <a:t>PERCEIVE PHASE</a:t>
            </a:r>
          </a:p>
        </p:txBody>
      </p:sp>
      <p:sp>
        <p:nvSpPr>
          <p:cNvPr id="100166" name="Code2"/>
          <p:cNvSpPr txBox="1"/>
          <p:nvPr/>
        </p:nvSpPr>
        <p:spPr>
          <a:xfrm xmlns:a="http://schemas.openxmlformats.org/drawingml/2006/main">
            <a:off x="540000" y="2628000"/>
            <a:ext cx="5040000" cy="82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perceive(userInput) {</a:t>
            </a:r>
          </a:p>
          <a:p xmlns:a="http://schemas.openxmlformats.org/drawingml/2006/main">
            <a:r>
              <a:rPr lang="en-US" sz="1200">
                <a:solidFill>
                  <a:srgbClr val="B0BEC5"/>
                </a:solidFill>
              </a:rPr>
              <a:t>  const normalized = userInput.toLowerCase().trim();</a:t>
            </a:r>
          </a:p>
          <a:p xmlns:a="http://schemas.openxmlformats.org/drawingml/2006/main">
            <a:r>
              <a:rPr lang="en-US" sz="1200">
                <a:solidFill>
                  <a:srgbClr val="B0BEC5"/>
                </a:solidFill>
              </a:rPr>
              <a:t>  const tokens = normalized.split(/\s+/);</a:t>
            </a:r>
          </a:p>
          <a:p xmlns:a="http://schemas.openxmlformats.org/drawingml/2006/main">
            <a:r>
              <a:rPr lang="en-US" sz="1200">
                <a:solidFill>
                  <a:srgbClr val="B0BEC5"/>
                </a:solidFill>
              </a:rPr>
              <a:t>  return { raw: userInput, normalized, tokens };</a:t>
            </a:r>
          </a:p>
          <a:p xmlns:a="http://schemas.openxmlformats.org/drawingml/2006/main">
            <a:r>
              <a:rPr lang="en-US" sz="1200">
                <a:solidFill>
                  <a:srgbClr val="B0BEC5"/>
                </a:solidFill>
              </a:rPr>
              <a:t>}</a:t>
            </a:r>
          </a:p>
        </p:txBody>
      </p:sp>
      <p:sp>
        <p:nvSpPr>
          <p:cNvPr id="100167" name="Code3H"/>
          <p:cNvSpPr txBox="1"/>
          <p:nvPr/>
        </p:nvSpPr>
        <p:spPr>
          <a:xfrm xmlns:a="http://schemas.openxmlformats.org/drawingml/2006/main">
            <a:off x="6120000" y="1080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b="1">
                <a:solidFill>
                  <a:srgbClr val="00B4D8"/>
                </a:solidFill>
              </a:rPr>
              <a:t>PLAN PHASE — Intent Classification</a:t>
            </a:r>
          </a:p>
        </p:txBody>
      </p:sp>
      <p:sp>
        <p:nvSpPr>
          <p:cNvPr id="100168" name="Code3"/>
          <p:cNvSpPr txBox="1"/>
          <p:nvPr/>
        </p:nvSpPr>
        <p:spPr>
          <a:xfrm xmlns:a="http://schemas.openxmlformats.org/drawingml/2006/main">
            <a:off x="6120000" y="1296000"/>
            <a:ext cx="5040000" cy="16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100">
                <a:solidFill>
                  <a:srgbClr val="B0BEC5"/>
                </a:solidFill>
              </a:rPr>
              <a:t>plan(perception) {</a:t>
            </a:r>
          </a:p>
          <a:p xmlns:a="http://schemas.openxmlformats.org/drawingml/2006/main">
            <a:r>
              <a:rPr lang="en-US" sz="1100">
                <a:solidFill>
                  <a:srgbClr val="B0BEC5"/>
                </a:solidFill>
              </a:rPr>
              <a:t>  const scores = {};</a:t>
            </a:r>
          </a:p>
          <a:p xmlns:a="http://schemas.openxmlformats.org/drawingml/2006/main">
            <a:r>
              <a:rPr lang="en-US" sz="1100">
                <a:solidFill>
                  <a:srgbClr val="B0BEC5"/>
                </a:solidFill>
              </a:rPr>
              <a:t>  for (const ip of INTENT_PATTERNS) {</a:t>
            </a:r>
          </a:p>
          <a:p xmlns:a="http://schemas.openxmlformats.org/drawingml/2006/main">
            <a:r>
              <a:rPr lang="en-US" sz="1100">
                <a:solidFill>
                  <a:srgbClr val="B0BEC5"/>
                </a:solidFill>
              </a:rPr>
              <a:t>    let score = 0;</a:t>
            </a:r>
          </a:p>
          <a:p xmlns:a="http://schemas.openxmlformats.org/drawingml/2006/main">
            <a:r>
              <a:rPr lang="en-US" sz="1100">
                <a:solidFill>
                  <a:srgbClr val="B0BEC5"/>
                </a:solidFill>
              </a:rPr>
              <a:t>    for (const pattern of ip.patterns) {</a:t>
            </a:r>
          </a:p>
          <a:p xmlns:a="http://schemas.openxmlformats.org/drawingml/2006/main">
            <a:r>
              <a:rPr lang="en-US" sz="1100">
                <a:solidFill>
                  <a:srgbClr val="B0BEC5"/>
                </a:solidFill>
              </a:rPr>
              <a:t>      if (perception.normalized.includes(pattern)) {</a:t>
            </a:r>
          </a:p>
          <a:p xmlns:a="http://schemas.openxmlformats.org/drawingml/2006/main">
            <a:r>
              <a:rPr lang="en-US" sz="1100">
                <a:solidFill>
                  <a:srgbClr val="B0BEC5"/>
                </a:solidFill>
              </a:rPr>
              <a:t>        score += ip.confidence;</a:t>
            </a:r>
          </a:p>
          <a:p xmlns:a="http://schemas.openxmlformats.org/drawingml/2006/main">
            <a:r>
              <a:rPr lang="en-US" sz="1100">
                <a:solidFill>
                  <a:srgbClr val="B0BEC5"/>
                </a:solidFill>
              </a:rPr>
              <a:t>      }</a:t>
            </a:r>
          </a:p>
          <a:p xmlns:a="http://schemas.openxmlformats.org/drawingml/2006/main">
            <a:r>
              <a:rPr lang="en-US" sz="1100">
                <a:solidFill>
                  <a:srgbClr val="B0BEC5"/>
                </a:solidFill>
              </a:rPr>
              <a:t>    }</a:t>
            </a:r>
          </a:p>
          <a:p xmlns:a="http://schemas.openxmlformats.org/drawingml/2006/main">
            <a:r>
              <a:rPr lang="en-US" sz="1100">
                <a:solidFill>
                  <a:srgbClr val="B0BEC5"/>
                </a:solidFill>
              </a:rPr>
              <a:t>    if (score &gt; 0) scores[ip.intent] = score;</a:t>
            </a:r>
          </a:p>
          <a:p xmlns:a="http://schemas.openxmlformats.org/drawingml/2006/main">
            <a:r>
              <a:rPr lang="en-US" sz="1100">
                <a:solidFill>
                  <a:srgbClr val="B0BEC5"/>
                </a:solidFill>
              </a:rPr>
              <a:t>  }</a:t>
            </a:r>
          </a:p>
          <a:p xmlns:a="http://schemas.openxmlformats.org/drawingml/2006/main">
            <a:r>
              <a:rPr lang="en-US" sz="1100">
                <a:solidFill>
                  <a:srgbClr val="B0BEC5"/>
                </a:solidFill>
              </a:rPr>
              <a:t>  const sorted = Object.entries(scores).sort((a,b) =&gt; b[1]-a[1]);</a:t>
            </a:r>
          </a:p>
          <a:p xmlns:a="http://schemas.openxmlformats.org/drawingml/2006/main">
            <a:r>
              <a:rPr lang="en-US" sz="1100">
                <a:solidFill>
                  <a:srgbClr val="B0BEC5"/>
                </a:solidFill>
              </a:rPr>
              <a:t>  return { primaryIntent: sorted[0]?.[0] || 'fallback', ... };</a:t>
            </a:r>
          </a:p>
          <a:p xmlns:a="http://schemas.openxmlformats.org/drawingml/2006/main">
            <a:r>
              <a:rPr lang="en-US" sz="1100">
                <a:solidFill>
                  <a:srgbClr val="B0BEC5"/>
                </a:solidFill>
              </a:rPr>
              <a:t>}</a:t>
            </a:r>
          </a:p>
        </p:txBody>
      </p:sp>
      <p:sp>
        <p:nvSpPr>
          <p:cNvPr id="100169" name="Code4H"/>
          <p:cNvSpPr txBox="1"/>
          <p:nvPr/>
        </p:nvSpPr>
        <p:spPr>
          <a:xfrm xmlns:a="http://schemas.openxmlformats.org/drawingml/2006/main">
            <a:off x="6120000" y="3024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b="1">
                <a:solidFill>
                  <a:srgbClr val="24A148"/>
                </a:solidFill>
              </a:rPr>
              <a:t>REFLECT PHASE</a:t>
            </a:r>
          </a:p>
        </p:txBody>
      </p:sp>
      <p:sp>
        <p:nvSpPr>
          <p:cNvPr id="100170" name="Code4"/>
          <p:cNvSpPr txBox="1"/>
          <p:nvPr/>
        </p:nvSpPr>
        <p:spPr>
          <a:xfrm xmlns:a="http://schemas.openxmlformats.org/drawingml/2006/main">
            <a:off x="6120000" y="3240000"/>
            <a:ext cx="5040000" cy="108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100">
                <a:solidFill>
                  <a:srgbClr val="B0BEC5"/>
                </a:solidFill>
              </a:rPr>
              <a:t>reflect(plan, response) {</a:t>
            </a:r>
          </a:p>
          <a:p xmlns:a="http://schemas.openxmlformats.org/drawingml/2006/main">
            <a:r>
              <a:rPr lang="en-US" sz="1100">
                <a:solidFill>
                  <a:srgbClr val="B0BEC5"/>
                </a:solidFill>
              </a:rPr>
              <a:t>  const lowConfidence = plan.confidence &lt; 0.5;</a:t>
            </a:r>
          </a:p>
          <a:p xmlns:a="http://schemas.openxmlformats.org/drawingml/2006/main">
            <a:r>
              <a:rPr lang="en-US" sz="1100">
                <a:solidFill>
                  <a:srgbClr val="B0BEC5"/>
                </a:solidFill>
              </a:rPr>
              <a:t>  const veryShort = response.length &lt; 40;</a:t>
            </a:r>
          </a:p>
          <a:p xmlns:a="http://schemas.openxmlformats.org/drawingml/2006/main">
            <a:r>
              <a:rPr lang="en-US" sz="1100">
                <a:solidFill>
                  <a:srgbClr val="B0BEC5"/>
                </a:solidFill>
              </a:rPr>
              <a:t>  if (lowConfidence || veryShort) {</a:t>
            </a:r>
          </a:p>
          <a:p xmlns:a="http://schemas.openxmlformats.org/drawingml/2006/main">
            <a:r>
              <a:rPr lang="en-US" sz="1100">
                <a:solidFill>
                  <a:srgbClr val="B0BEC5"/>
                </a:solidFill>
              </a:rPr>
              <a:t>    return response + '\nTip: Try asking about skills...';</a:t>
            </a:r>
          </a:p>
          <a:p xmlns:a="http://schemas.openxmlformats.org/drawingml/2006/main">
            <a:r>
              <a:rPr lang="en-US" sz="1100">
                <a:solidFill>
                  <a:srgbClr val="B0BEC5"/>
                </a:solidFill>
              </a:rPr>
              <a:t>  }</a:t>
            </a:r>
          </a:p>
          <a:p xmlns:a="http://schemas.openxmlformats.org/drawingml/2006/main">
            <a:r>
              <a:rPr lang="en-US" sz="1100">
                <a:solidFill>
                  <a:srgbClr val="B0BEC5"/>
                </a:solidFill>
              </a:rPr>
              <a:t>  return response;</a:t>
            </a:r>
          </a:p>
          <a:p xmlns:a="http://schemas.openxmlformats.org/drawingml/2006/main">
            <a:r>
              <a:rPr lang="en-US" sz="1100">
                <a:solidFill>
                  <a:srgbClr val="B0BEC5"/>
                </a:solidFill>
              </a:rPr>
              <a:t>}</a:t>
            </a:r>
          </a:p>
        </p:txBody>
      </p:sp>
    </p:spTree>
  </p:cSld>
  <p:transition advTm="7500"/>
</p:sld>
</file>

<file path=ppt/slides/slide17.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71"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172" name="Label"/>
          <p:cNvSpPr txBox="1"/>
          <p:nvPr/>
        </p:nvSpPr>
        <p:spPr>
          <a:xfrm xmlns:a="http://schemas.openxmlformats.org/drawingml/2006/main">
            <a:off x="540000" y="252000"/>
            <a:ext cx="90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SERVER &amp; ENVIRONMENT CONFIGURATION</a:t>
            </a:r>
          </a:p>
        </p:txBody>
      </p:sp>
      <p:sp>
        <p:nvSpPr>
          <p:cNvPr id="100173" name="Title"/>
          <p:cNvSpPr txBox="1"/>
          <p:nvPr/>
        </p:nvSpPr>
        <p:spPr>
          <a:xfrm xmlns:a="http://schemas.openxmlformats.org/drawingml/2006/main">
            <a:off x="540000" y="5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server.js + .env Configuration</a:t>
            </a:r>
          </a:p>
        </p:txBody>
      </p:sp>
      <p:sp>
        <p:nvSpPr>
          <p:cNvPr id="100174" name="EnvHead"/>
          <p:cNvSpPr txBox="1"/>
          <p:nvPr/>
        </p:nvSpPr>
        <p:spPr>
          <a:xfrm xmlns:a="http://schemas.openxmlformats.org/drawingml/2006/main">
            <a:off x="540000" y="1080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.env FILE (gitignored — never committed)</a:t>
            </a:r>
          </a:p>
        </p:txBody>
      </p:sp>
      <p:sp>
        <p:nvSpPr>
          <p:cNvPr id="100175" name="Env"/>
          <p:cNvSpPr txBox="1"/>
          <p:nvPr/>
        </p:nvSpPr>
        <p:spPr>
          <a:xfrm xmlns:a="http://schemas.openxmlformats.org/drawingml/2006/main">
            <a:off x="540000" y="1332000"/>
            <a:ext cx="5040000" cy="9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IBM_PROJECT_ID=70838522-da0e-48f1-b5aa-c930dcbd57c0</a:t>
            </a:r>
          </a:p>
          <a:p xmlns:a="http://schemas.openxmlformats.org/drawingml/2006/main">
            <a:r>
              <a:rPr lang="en-US" sz="1300">
                <a:solidFill>
                  <a:srgbClr val="B0BEC5"/>
                </a:solidFill>
              </a:rPr>
              <a:t>IBM_API_KEY=PjwuXrPzS9zl4tD3mh...E3mV</a:t>
            </a:r>
          </a:p>
          <a:p xmlns:a="http://schemas.openxmlformats.org/drawingml/2006/main">
            <a:r>
              <a:rPr lang="en-US" sz="1300">
                <a:solidFill>
                  <a:srgbClr val="B0BEC5"/>
                </a:solidFill>
              </a:rPr>
              <a:t>IBM_REGION=https://us-south.ml.cloud.ibm.com</a:t>
            </a:r>
          </a:p>
          <a:p xmlns:a="http://schemas.openxmlformats.org/drawingml/2006/main">
            <a:r>
              <a:rPr lang="en-US" sz="1300">
                <a:solidFill>
                  <a:srgbClr val="B0BEC5"/>
                </a:solidFill>
              </a:rPr>
              <a:t>PORT=3000</a:t>
            </a:r>
          </a:p>
        </p:txBody>
      </p:sp>
      <p:sp>
        <p:nvSpPr>
          <p:cNvPr id="100176" name="FlowHead"/>
          <p:cNvSpPr txBox="1"/>
          <p:nvPr/>
        </p:nvSpPr>
        <p:spPr>
          <a:xfrm xmlns:a="http://schemas.openxmlformats.org/drawingml/2006/main">
            <a:off x="540000" y="2448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REQUEST FLOW</a:t>
            </a:r>
          </a:p>
        </p:txBody>
      </p:sp>
      <p:sp>
        <p:nvSpPr>
          <p:cNvPr id="100177" name="Flow"/>
          <p:cNvSpPr txBox="1"/>
          <p:nvPr/>
        </p:nvSpPr>
        <p:spPr>
          <a:xfrm xmlns:a="http://schemas.openxmlformats.org/drawingml/2006/main">
            <a:off x="540000" y="2700000"/>
            <a:ext cx="5040000" cy="18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Browser (agent.js)</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POST /api/granite (localhost:3000)</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server.js reads .env -&gt; getIAMToken()</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IBM IAM -&gt; Bearer Token</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POST us-south.ml.cloud.ibm.com</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ibm/granite-13b-chat-v2</a:t>
            </a:r>
          </a:p>
          <a:p xmlns:a="http://schemas.openxmlformats.org/drawingml/2006/main">
            <a:r>
              <a:rPr lang="en-US" sz="1200">
                <a:solidFill>
                  <a:srgbClr val="B0BEC5"/>
                </a:solidFill>
              </a:rPr>
              <a:t>      |</a:t>
            </a:r>
          </a:p>
          <a:p xmlns:a="http://schemas.openxmlformats.org/drawingml/2006/main">
            <a:r>
              <a:rPr lang="en-US" sz="1200">
                <a:solidFill>
                  <a:srgbClr val="B0BEC5"/>
                </a:solidFill>
              </a:rPr>
              <a:t>      v</a:t>
            </a:r>
          </a:p>
          <a:p xmlns:a="http://schemas.openxmlformats.org/drawingml/2006/main">
            <a:r>
              <a:rPr lang="en-US" sz="1200">
                <a:solidFill>
                  <a:srgbClr val="B0BEC5"/>
                </a:solidFill>
              </a:rPr>
              <a:t>JSON response -&gt; Chat UI</a:t>
            </a:r>
          </a:p>
        </p:txBody>
      </p:sp>
      <p:sp>
        <p:nvSpPr>
          <p:cNvPr id="100178" name="StatusHead"/>
          <p:cNvSpPr txBox="1"/>
          <p:nvPr/>
        </p:nvSpPr>
        <p:spPr>
          <a:xfrm xmlns:a="http://schemas.openxmlformats.org/drawingml/2006/main">
            <a:off x="6120000" y="1080000"/>
            <a:ext cx="504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LIVE HEALTH CHECK RESPONSE (HTTP 200)</a:t>
            </a:r>
          </a:p>
        </p:txBody>
      </p:sp>
      <p:sp>
        <p:nvSpPr>
          <p:cNvPr id="100179" name="Status"/>
          <p:cNvSpPr txBox="1"/>
          <p:nvPr/>
        </p:nvSpPr>
        <p:spPr>
          <a:xfrm xmlns:a="http://schemas.openxmlformats.org/drawingml/2006/main">
            <a:off x="6120000" y="1332000"/>
            <a:ext cx="5040000" cy="18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B0BEC5"/>
                </a:solidFill>
              </a:rPr>
              <a:t>GET http://localhost:3000/api/status</a:t>
            </a:r>
          </a:p>
          <a:p xmlns:a="http://schemas.openxmlformats.org/drawingml/2006/main">
            <a:r>
              <a:rPr lang="en-US" sz="1200">
                <a:solidFill>
                  <a:srgbClr val="B0BEC5"/>
                </a:solidFill>
              </a:rPr>
              <a:t/>
            </a:r>
          </a:p>
          <a:p xmlns:a="http://schemas.openxmlformats.org/drawingml/2006/main">
            <a:r>
              <a:rPr lang="en-US" sz="1200">
                <a:solidFill>
                  <a:srgbClr val="B0BEC5"/>
                </a:solidFill>
              </a:rPr>
              <a:t>{</a:t>
            </a:r>
          </a:p>
          <a:p xmlns:a="http://schemas.openxmlformats.org/drawingml/2006/main">
            <a:r>
              <a:rPr lang="en-US" sz="1200">
                <a:solidFill>
                  <a:srgbClr val="B0BEC5"/>
                </a:solidFill>
              </a:rPr>
              <a:t>  "status": "ok",</a:t>
            </a:r>
          </a:p>
          <a:p xmlns:a="http://schemas.openxmlformats.org/drawingml/2006/main">
            <a:r>
              <a:rPr lang="en-US" sz="1200">
                <a:solidFill>
                  <a:srgbClr val="B0BEC5"/>
                </a:solidFill>
              </a:rPr>
              <a:t>  "model": "ibm/granite-13b-chat-v2",</a:t>
            </a:r>
          </a:p>
          <a:p xmlns:a="http://schemas.openxmlformats.org/drawingml/2006/main">
            <a:r>
              <a:rPr lang="en-US" sz="1200">
                <a:solidFill>
                  <a:srgbClr val="B0BEC5"/>
                </a:solidFill>
              </a:rPr>
              <a:t>  "project": "70838522-da0e-48f1-b5aa...",</a:t>
            </a:r>
          </a:p>
          <a:p xmlns:a="http://schemas.openxmlformats.org/drawingml/2006/main">
            <a:r>
              <a:rPr lang="en-US" sz="1200">
                <a:solidFill>
                  <a:srgbClr val="B0BEC5"/>
                </a:solidFill>
              </a:rPr>
              <a:t>  "region": "https://us-south.ml.cloud.ibm.com",</a:t>
            </a:r>
          </a:p>
          <a:p xmlns:a="http://schemas.openxmlformats.org/drawingml/2006/main">
            <a:r>
              <a:rPr lang="en-US" sz="1200">
                <a:solidFill>
                  <a:srgbClr val="B0BEC5"/>
                </a:solidFill>
              </a:rPr>
              <a:t>  "port": "3000",</a:t>
            </a:r>
          </a:p>
          <a:p xmlns:a="http://schemas.openxmlformats.org/drawingml/2006/main">
            <a:r>
              <a:rPr lang="en-US" sz="1200">
                <a:solidFill>
                  <a:srgbClr val="B0BEC5"/>
                </a:solidFill>
              </a:rPr>
              <a:t>  "apiKey": "***configured***",</a:t>
            </a:r>
          </a:p>
          <a:p xmlns:a="http://schemas.openxmlformats.org/drawingml/2006/main">
            <a:r>
              <a:rPr lang="en-US" sz="1200">
                <a:solidFill>
                  <a:srgbClr val="B0BEC5"/>
                </a:solidFill>
              </a:rPr>
              <a:t>  "trainer": "Eluri Narendra"</a:t>
            </a:r>
          </a:p>
          <a:p xmlns:a="http://schemas.openxmlformats.org/drawingml/2006/main">
            <a:r>
              <a:rPr lang="en-US" sz="1200">
                <a:solidFill>
                  <a:srgbClr val="B0BEC5"/>
                </a:solidFill>
              </a:rPr>
              <a:t>}</a:t>
            </a:r>
          </a:p>
        </p:txBody>
      </p:sp>
      <p:sp>
        <p:nvSpPr>
          <p:cNvPr id="100180" name="Security"/>
          <p:cNvSpPr txBox="1"/>
          <p:nvPr/>
        </p:nvSpPr>
        <p:spPr>
          <a:xfrm xmlns:a="http://schemas.openxmlformats.org/drawingml/2006/main">
            <a:off x="6120000" y="3348000"/>
            <a:ext cx="5040000" cy="5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200">
                <a:solidFill>
                  <a:srgbClr val="24A148"/>
                </a:solidFill>
              </a:rPr>
              <a:t>Security: IBM_API_KEY stays server-side only. Browser never sees raw key. IAM tokens auto-refreshed before expiry.</a:t>
            </a:r>
          </a:p>
        </p:txBody>
      </p:sp>
    </p:spTree>
  </p:cSld>
  <p:transition advTm="7500"/>
</p:sld>
</file>

<file path=ppt/slides/slide18.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81"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endParaRPr lang="en-US" sz="1000"/>
          </a:p>
        </p:txBody>
      </p:sp>
      <p:sp>
        <p:nvSpPr>
          <p:cNvPr id="100182"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GITHUB DEPLOYMENT</a:t>
            </a:r>
          </a:p>
        </p:txBody>
      </p:sp>
      <p:sp>
        <p:nvSpPr>
          <p:cNvPr id="100183" name="Title"/>
          <p:cNvSpPr txBox="1"/>
          <p:nvPr/>
        </p:nvSpPr>
        <p:spPr>
          <a:xfrm xmlns:a="http://schemas.openxmlformats.org/drawingml/2006/main">
            <a:off x="540000" y="5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600" b="1">
                <a:solidFill>
                  <a:srgbClr val="FFFFFF"/>
                </a:solidFill>
              </a:rPr>
              <a:t>Repository: NarendraEluri123/Portfolio1</a:t>
            </a:r>
          </a:p>
        </p:txBody>
      </p:sp>
      <p:sp>
        <p:nvSpPr>
          <p:cNvPr id="100184" name="RepoURL"/>
          <p:cNvSpPr txBox="1"/>
          <p:nvPr/>
        </p:nvSpPr>
        <p:spPr>
          <a:xfrm xmlns:a="http://schemas.openxmlformats.org/drawingml/2006/main">
            <a:off x="540000" y="972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00B4D8"/>
                </a:solidFill>
              </a:rPr>
              <a:t>https://github.com/NarendraEluri123/Portfolio1.git</a:t>
            </a:r>
          </a:p>
        </p:txBody>
      </p:sp>
      <p:sp>
        <p:nvSpPr>
          <p:cNvPr id="100185" name="CommitsHead"/>
          <p:cNvSpPr txBox="1"/>
          <p:nvPr/>
        </p:nvSpPr>
        <p:spPr>
          <a:xfrm xmlns:a="http://schemas.openxmlformats.org/drawingml/2006/main">
            <a:off x="540000" y="1368000"/>
            <a:ext cx="108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24A148"/>
                </a:solidFill>
              </a:rPr>
              <a:t>GIT LOG</a:t>
            </a:r>
          </a:p>
        </p:txBody>
      </p:sp>
      <p:sp>
        <p:nvSpPr>
          <p:cNvPr id="100186" name="Commits"/>
          <p:cNvSpPr txBox="1"/>
          <p:nvPr/>
        </p:nvSpPr>
        <p:spPr>
          <a:xfrm xmlns:a="http://schemas.openxmlformats.org/drawingml/2006/main">
            <a:off x="540000" y="1620000"/>
            <a:ext cx="10800000" cy="1008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commit dcd0a4f — fix: replace unicode box chars in server banner for ASCII compatibility</a:t>
            </a:r>
          </a:p>
          <a:p xmlns:a="http://schemas.openxmlformats.org/drawingml/2006/main">
            <a:r>
              <a:rPr lang="en-US" sz="1300">
                <a:solidFill>
                  <a:srgbClr val="B0BEC5"/>
                </a:solidFill>
              </a:rPr>
              <a:t>commit 627d163 — Initial release — Yogesh Portfolio with IBM Granite Agentic AI</a:t>
            </a:r>
          </a:p>
          <a:p xmlns:a="http://schemas.openxmlformats.org/drawingml/2006/main">
            <a:r>
              <a:rPr lang="en-US" sz="1300">
                <a:solidFill>
                  <a:srgbClr val="B0BEC5"/>
                </a:solidFill>
              </a:rPr>
              <a:t>                      10 files changed, 3,229 insertions(+)</a:t>
            </a:r>
          </a:p>
          <a:p xmlns:a="http://schemas.openxmlformats.org/drawingml/2006/main">
            <a:r>
              <a:rPr lang="en-US" sz="1300">
                <a:solidFill>
                  <a:srgbClr val="B0BEC5"/>
                </a:solidFill>
              </a:rPr>
              <a:t/>
            </a:r>
          </a:p>
          <a:p xmlns:a="http://schemas.openxmlformats.org/drawingml/2006/main">
            <a:r>
              <a:rPr lang="en-US" sz="1300">
                <a:solidFill>
                  <a:srgbClr val="B0BEC5"/>
                </a:solidFill>
              </a:rPr>
              <a:t>Branch: main  |  Remote: origin/main  |  Status: up to date</a:t>
            </a:r>
          </a:p>
        </p:txBody>
      </p:sp>
      <p:sp>
        <p:nvSpPr>
          <p:cNvPr id="100187" name="FilesHead"/>
          <p:cNvSpPr txBox="1"/>
          <p:nvPr/>
        </p:nvSpPr>
        <p:spPr>
          <a:xfrm xmlns:a="http://schemas.openxmlformats.org/drawingml/2006/main">
            <a:off x="540000" y="2772000"/>
            <a:ext cx="108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COMMITTED FILES (10 files — .env and node_modules EXCLUDED by .gitignore)</a:t>
            </a:r>
          </a:p>
        </p:txBody>
      </p:sp>
      <p:sp>
        <p:nvSpPr>
          <p:cNvPr id="100188" name="Files"/>
          <p:cNvSpPr txBox="1"/>
          <p:nvPr/>
        </p:nvSpPr>
        <p:spPr>
          <a:xfrm xmlns:a="http://schemas.openxmlformats.org/drawingml/2006/main">
            <a:off x="540000" y="3024000"/>
            <a:ext cx="10800000" cy="7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index.html  (27 KB)     style.css  (22 KB)     agent.js  (25 KB)     server.js  (7.3 KB)</a:t>
            </a:r>
          </a:p>
          <a:p xmlns:a="http://schemas.openxmlformats.org/drawingml/2006/main">
            <a:r>
              <a:rPr lang="en-US" sz="1300">
                <a:solidFill>
                  <a:srgbClr val="B0BEC5"/>
                </a:solidFill>
              </a:rPr>
              <a:t>package.json             README.md               .gitignore               requirements.txt</a:t>
            </a:r>
          </a:p>
          <a:p xmlns:a="http://schemas.openxmlformats.org/drawingml/2006/main">
            <a:r>
              <a:rPr lang="en-US" sz="1300">
                <a:solidFill>
                  <a:srgbClr val="B0BEC5"/>
                </a:solidFill>
              </a:rPr>
              <a:t>launch_portfolio.bat     AGENTIC_AI_SDLC_PLAN.md</a:t>
            </a:r>
          </a:p>
        </p:txBody>
      </p:sp>
      <p:sp>
        <p:nvSpPr>
          <p:cNvPr id="100189" name="GitPages"/>
          <p:cNvSpPr txBox="1"/>
          <p:nvPr/>
        </p:nvSpPr>
        <p:spPr>
          <a:xfrm xmlns:a="http://schemas.openxmlformats.org/drawingml/2006/main">
            <a:off x="540000" y="3960000"/>
            <a:ext cx="10800000" cy="432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a:solidFill>
                  <a:srgbClr val="24A148"/>
                </a:solidFill>
              </a:rPr>
              <a:t>GitHub Pages URL (enable in Settings &gt; Pages &gt; main &gt; root):</a:t>
            </a:r>
          </a:p>
          <a:p xmlns:a="http://schemas.openxmlformats.org/drawingml/2006/main">
            <a:r>
              <a:rPr lang="en-US" sz="1400">
                <a:solidFill>
                  <a:srgbClr val="24A148"/>
                </a:solidFill>
              </a:rPr>
              <a:t>https://NarendraEluri123.github.io/Portfolio1/</a:t>
            </a:r>
          </a:p>
        </p:txBody>
      </p:sp>
    </p:spTree>
  </p:cSld>
  <p:transition advTm="7500"/>
</p:sld>
</file>

<file path=ppt/slides/slide19.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90"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1000"/>
          </a:p>
        </p:txBody>
      </p:sp>
      <p:sp>
        <p:nvSpPr>
          <p:cNvPr id="100191"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6929C4"/>
                </a:solidFill>
              </a:rPr>
              <a:t>TRAINER SPOTLIGHT</a:t>
            </a:r>
          </a:p>
        </p:txBody>
      </p:sp>
      <p:sp>
        <p:nvSpPr>
          <p:cNvPr id="100192" name="EmojiIcon"/>
          <p:cNvSpPr txBox="1"/>
          <p:nvPr/>
        </p:nvSpPr>
        <p:spPr>
          <a:xfrm xmlns:a="http://schemas.openxmlformats.org/drawingml/2006/main">
            <a:off x="2520000" y="540000"/>
            <a:ext cx="72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ELURI NARENDRA</a:t>
            </a:r>
          </a:p>
        </p:txBody>
      </p:sp>
      <p:sp>
        <p:nvSpPr>
          <p:cNvPr id="100193" name="Role"/>
          <p:cNvSpPr txBox="1"/>
          <p:nvPr/>
        </p:nvSpPr>
        <p:spPr>
          <a:xfrm xmlns:a="http://schemas.openxmlformats.org/drawingml/2006/main">
            <a:off x="2520000" y="1116000"/>
            <a:ext cx="72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00B4D8"/>
                </a:solidFill>
              </a:rPr>
              <a:t>Technical Master Trainer</a:t>
            </a:r>
          </a:p>
        </p:txBody>
      </p:sp>
      <p:sp>
        <p:nvSpPr>
          <p:cNvPr id="100194" name="AvatarBox"/>
          <p:cNvSpPr txBox="1"/>
          <p:nvPr/>
        </p:nvSpPr>
        <p:spPr>
          <a:xfrm xmlns:a="http://schemas.openxmlformats.org/drawingml/2006/main">
            <a:off x="540000" y="540000"/>
            <a:ext cx="1620000" cy="1620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2800" b="1">
                <a:solidFill>
                  <a:srgbClr val="FFFFFF"/>
                </a:solidFill>
              </a:rPr>
              <a:t>E N</a:t>
            </a:r>
          </a:p>
        </p:txBody>
      </p:sp>
      <p:sp>
        <p:nvSpPr>
          <p:cNvPr id="100195" name="AI"/>
          <p:cNvSpPr txBox="1"/>
          <p:nvPr/>
        </p:nvSpPr>
        <p:spPr>
          <a:xfrm xmlns:a="http://schemas.openxmlformats.org/drawingml/2006/main">
            <a:off x="2520000" y="1620000"/>
            <a:ext cx="4140000" cy="14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Agentic AI</a:t>
            </a:r>
          </a:p>
          <a:p xmlns:a="http://schemas.openxmlformats.org/drawingml/2006/main">
            <a:r>
              <a:rPr lang="en-US" sz="1300">
                <a:solidFill>
                  <a:srgbClr val="B0BEC5"/>
                </a:solidFill>
              </a:rPr>
              <a:t/>
            </a:r>
          </a:p>
          <a:p xmlns:a="http://schemas.openxmlformats.org/drawingml/2006/main">
            <a:r>
              <a:rPr lang="en-US" sz="1300">
                <a:solidFill>
                  <a:srgbClr val="B0BEC5"/>
                </a:solidFill>
              </a:rPr>
              <a:t>Designing autonomous AI agent systems, agentic pipelines, multi-agent orchestration, LangChain, IBM Granite, RAG, Perceive-Plan-Act-Reflect methodology.</a:t>
            </a:r>
          </a:p>
        </p:txBody>
      </p:sp>
      <p:sp>
        <p:nvSpPr>
          <p:cNvPr id="100196" name="ML"/>
          <p:cNvSpPr txBox="1"/>
          <p:nvPr/>
        </p:nvSpPr>
        <p:spPr>
          <a:xfrm xmlns:a="http://schemas.openxmlformats.org/drawingml/2006/main">
            <a:off x="7020000" y="1620000"/>
            <a:ext cx="4140000" cy="14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Machine Learning</a:t>
            </a:r>
          </a:p>
          <a:p xmlns:a="http://schemas.openxmlformats.org/drawingml/2006/main">
            <a:r>
              <a:rPr lang="en-US" sz="1300">
                <a:solidFill>
                  <a:srgbClr val="B0BEC5"/>
                </a:solidFill>
              </a:rPr>
              <a:t/>
            </a:r>
          </a:p>
          <a:p xmlns:a="http://schemas.openxmlformats.org/drawingml/2006/main">
            <a:r>
              <a:rPr lang="en-US" sz="1300">
                <a:solidFill>
                  <a:srgbClr val="B0BEC5"/>
                </a:solidFill>
              </a:rPr>
              <a:t>Supervised, unsupervised &amp; reinforcement learning, deep learning, neural networks, NLP, computer vision, MLOps, model evaluation.</a:t>
            </a:r>
          </a:p>
        </p:txBody>
      </p:sp>
      <p:sp>
        <p:nvSpPr>
          <p:cNvPr id="100197" name="QC"/>
          <p:cNvSpPr txBox="1"/>
          <p:nvPr/>
        </p:nvSpPr>
        <p:spPr>
          <a:xfrm xmlns:a="http://schemas.openxmlformats.org/drawingml/2006/main">
            <a:off x="540000" y="3240000"/>
            <a:ext cx="4140000" cy="14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Quantum Computing</a:t>
            </a:r>
          </a:p>
          <a:p xmlns:a="http://schemas.openxmlformats.org/drawingml/2006/main">
            <a:r>
              <a:rPr lang="en-US" sz="1300">
                <a:solidFill>
                  <a:srgbClr val="B0BEC5"/>
                </a:solidFill>
              </a:rPr>
              <a:t/>
            </a:r>
          </a:p>
          <a:p xmlns:a="http://schemas.openxmlformats.org/drawingml/2006/main">
            <a:r>
              <a:rPr lang="en-US" sz="1300">
                <a:solidFill>
                  <a:srgbClr val="B0BEC5"/>
                </a:solidFill>
              </a:rPr>
              <a:t>IBM Qiskit, quantum algorithms (Grover, Shor, QAOA), quantum ML, Variational Quantum Circuits (VQC), quantum advantage.</a:t>
            </a:r>
          </a:p>
        </p:txBody>
      </p:sp>
      <p:sp>
        <p:nvSpPr>
          <p:cNvPr id="100198" name="Impact"/>
          <p:cNvSpPr txBox="1"/>
          <p:nvPr/>
        </p:nvSpPr>
        <p:spPr>
          <a:xfrm xmlns:a="http://schemas.openxmlformats.org/drawingml/2006/main">
            <a:off x="5040000" y="3240000"/>
            <a:ext cx="6120000" cy="14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a:solidFill>
                  <a:srgbClr val="B0BEC5"/>
                </a:solidFill>
              </a:rPr>
              <a:t>Project Impact</a:t>
            </a:r>
          </a:p>
          <a:p xmlns:a="http://schemas.openxmlformats.org/drawingml/2006/main">
            <a:r>
              <a:rPr lang="en-US" sz="1300">
                <a:solidFill>
                  <a:srgbClr val="B0BEC5"/>
                </a:solidFill>
              </a:rPr>
              <a:t/>
            </a:r>
          </a:p>
          <a:p xmlns:a="http://schemas.openxmlformats.org/drawingml/2006/main">
            <a:r>
              <a:rPr lang="en-US" sz="1300">
                <a:solidFill>
                  <a:srgbClr val="B0BEC5"/>
                </a:solidFill>
              </a:rPr>
              <a:t>This portfolio is a real-world reference implementation of the Agentic AI SDLC taught by Eluri Narendra. Every phase — from requirements to GitHub deployment — follows the exact methodology from training.</a:t>
            </a:r>
          </a:p>
        </p:txBody>
      </p:sp>
    </p:spTree>
  </p:cSld>
  <p:transition advTm="7500"/>
</p:sld>
</file>

<file path=ppt/slides/slide20.xml><?xml version="1.0" encoding="utf-8"?>
<p:sld xmlns:a="http://schemas.openxmlformats.org/drawingml/2006/main" xmlns:p="http://schemas.openxmlformats.org/presentationml/2006/main">
  <p:cSld>
    <p:bg>
      <p:bgPr>
        <a:solidFill xmlns:a="http://schemas.openxmlformats.org/drawingml/2006/main">
          <a:srgbClr val="0A0E1A"/>
        </a:solidFill>
      </p:bgPr>
    </p:bg>
    <p:spTree>
      <p:nvGrpSpPr>
        <p:cNvPr id="1" name=""/>
        <p:cNvGrpSpPr/>
        <p:nvPr/>
      </p:nvGrpSpPr>
      <p:grpSpPr/>
      <p:sp>
        <p:nvSpPr>
          <p:cNvPr id="100199" name="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p>
        </p:txBody>
      </p:sp>
      <p:sp>
        <p:nvSpPr>
          <p:cNvPr id="100200" name="Label"/>
          <p:cNvSpPr txBox="1"/>
          <p:nvPr/>
        </p:nvSpPr>
        <p:spPr>
          <a:xfrm xmlns:a="http://schemas.openxmlformats.org/drawingml/2006/main">
            <a:off x="540000" y="252000"/>
            <a:ext cx="72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SUMMARY &amp; PROJECT METRICS</a:t>
            </a:r>
          </a:p>
        </p:txBody>
      </p:sp>
      <p:sp>
        <p:nvSpPr>
          <p:cNvPr id="100201" name="Title"/>
          <p:cNvSpPr txBox="1"/>
          <p:nvPr/>
        </p:nvSpPr>
        <p:spPr>
          <a:xfrm xmlns:a="http://schemas.openxmlformats.org/drawingml/2006/main">
            <a:off x="540000" y="54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Project Complete — What We Achieved</a:t>
            </a:r>
          </a:p>
        </p:txBody>
      </p:sp>
      <p:sp>
        <p:nvSpPr>
          <p:cNvPr id="100202" name="M1"/>
          <p:cNvSpPr txBox="1"/>
          <p:nvPr/>
        </p:nvSpPr>
        <p:spPr>
          <a:xfrm xmlns:a="http://schemas.openxmlformats.org/drawingml/2006/main">
            <a:off x="360000" y="1260000"/>
            <a:ext cx="1980000" cy="108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1">
                <a:solidFill>
                  <a:srgbClr val="FFFFFF"/>
                </a:solidFill>
              </a:rPr>
              <a:t>11</a:t>
            </a:r>
          </a:p>
          <a:p xmlns:a="http://schemas.openxmlformats.org/drawingml/2006/main">
            <a:r>
              <a:rPr lang="en-US" sz="1400" b="1">
                <a:solidFill>
                  <a:srgbClr val="FFFFFF"/>
                </a:solidFill>
              </a:rPr>
              <a:t>Files</a:t>
            </a:r>
          </a:p>
          <a:p xmlns:a="http://schemas.openxmlformats.org/drawingml/2006/main">
            <a:r>
              <a:rPr lang="en-US" sz="1400" b="1">
                <a:solidFill>
                  <a:srgbClr val="FFFFFF"/>
                </a:solidFill>
              </a:rPr>
              <a:t>Delivered</a:t>
            </a:r>
          </a:p>
        </p:txBody>
      </p:sp>
      <p:sp>
        <p:nvSpPr>
          <p:cNvPr id="100203" name="M2"/>
          <p:cNvSpPr txBox="1"/>
          <p:nvPr/>
        </p:nvSpPr>
        <p:spPr>
          <a:xfrm xmlns:a="http://schemas.openxmlformats.org/drawingml/2006/main">
            <a:off x="2700000" y="1260000"/>
            <a:ext cx="1980000" cy="1080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400" b="1">
                <a:solidFill>
                  <a:srgbClr val="FFFFFF"/>
                </a:solidFill>
              </a:rPr>
              <a:t>3,229</a:t>
            </a:r>
          </a:p>
          <a:p xmlns:a="http://schemas.openxmlformats.org/drawingml/2006/main">
            <a:r>
              <a:rPr lang="en-US" sz="1400" b="1">
                <a:solidFill>
                  <a:srgbClr val="FFFFFF"/>
                </a:solidFill>
              </a:rPr>
              <a:t>Lines of</a:t>
            </a:r>
          </a:p>
          <a:p xmlns:a="http://schemas.openxmlformats.org/drawingml/2006/main">
            <a:r>
              <a:rPr lang="en-US" sz="1400" b="1">
                <a:solidFill>
                  <a:srgbClr val="FFFFFF"/>
                </a:solidFill>
              </a:rPr>
              <a:t>Code</a:t>
            </a:r>
          </a:p>
        </p:txBody>
      </p:sp>
      <p:sp>
        <p:nvSpPr>
          <p:cNvPr id="100204" name="M3"/>
          <p:cNvSpPr txBox="1"/>
          <p:nvPr/>
        </p:nvSpPr>
        <p:spPr>
          <a:xfrm xmlns:a="http://schemas.openxmlformats.org/drawingml/2006/main">
            <a:off x="5040000" y="1260000"/>
            <a:ext cx="1980000" cy="1080000"/>
          </a:xfrm>
          <a:prstGeom xmlns:a="http://schemas.openxmlformats.org/drawingml/2006/main" prst="rect">
            <a:avLst/>
          </a:prstGeom>
          <a:solidFill xmlns:a="http://schemas.openxmlformats.org/drawingml/2006/main">
            <a:srgbClr val="0043CE"/>
          </a:solidFill>
        </p:spPr>
        <p:txBody>
          <a:bodyPr xmlns:a="http://schemas.openxmlformats.org/drawingml/2006/main"/>
          <a:lstStyle xmlns:a="http://schemas.openxmlformats.org/drawingml/2006/main"/>
          <a:p xmlns:a="http://schemas.openxmlformats.org/drawingml/2006/main">
            <a:r>
              <a:rPr lang="en-US" sz="1400" b="1">
                <a:solidFill>
                  <a:srgbClr val="FFFFFF"/>
                </a:solidFill>
              </a:rPr>
              <a:t>20</a:t>
            </a:r>
          </a:p>
          <a:p xmlns:a="http://schemas.openxmlformats.org/drawingml/2006/main">
            <a:r>
              <a:rPr lang="en-US" sz="1400" b="1">
                <a:solidFill>
                  <a:srgbClr val="FFFFFF"/>
                </a:solidFill>
              </a:rPr>
              <a:t>Portfolio</a:t>
            </a:r>
          </a:p>
          <a:p xmlns:a="http://schemas.openxmlformats.org/drawingml/2006/main">
            <a:r>
              <a:rPr lang="en-US" sz="1400" b="1">
                <a:solidFill>
                  <a:srgbClr val="FFFFFF"/>
                </a:solidFill>
              </a:rPr>
              <a:t>Slides</a:t>
            </a:r>
          </a:p>
        </p:txBody>
      </p:sp>
      <p:sp>
        <p:nvSpPr>
          <p:cNvPr id="100205" name="M4"/>
          <p:cNvSpPr txBox="1"/>
          <p:nvPr/>
        </p:nvSpPr>
        <p:spPr>
          <a:xfrm xmlns:a="http://schemas.openxmlformats.org/drawingml/2006/main">
            <a:off x="7380000" y="1260000"/>
            <a:ext cx="1980000" cy="1080000"/>
          </a:xfrm>
          <a:prstGeom xmlns:a="http://schemas.openxmlformats.org/drawingml/2006/main" prst="rect">
            <a:avLst/>
          </a:prstGeom>
          <a:solidFill xmlns:a="http://schemas.openxmlformats.org/drawingml/2006/main">
            <a:srgbClr val="00B4D8"/>
          </a:solidFill>
        </p:spPr>
        <p:txBody>
          <a:bodyPr xmlns:a="http://schemas.openxmlformats.org/drawingml/2006/main"/>
          <a:lstStyle xmlns:a="http://schemas.openxmlformats.org/drawingml/2006/main"/>
          <a:p xmlns:a="http://schemas.openxmlformats.org/drawingml/2006/main">
            <a:r>
              <a:rPr lang="en-US" sz="1400" b="1">
                <a:solidFill>
                  <a:srgbClr val="FFFFFF"/>
                </a:solidFill>
              </a:rPr>
              <a:t>13</a:t>
            </a:r>
          </a:p>
          <a:p xmlns:a="http://schemas.openxmlformats.org/drawingml/2006/main">
            <a:r>
              <a:rPr lang="en-US" sz="1400" b="1">
                <a:solidFill>
                  <a:srgbClr val="FFFFFF"/>
                </a:solidFill>
              </a:rPr>
              <a:t>AI Intent</a:t>
            </a:r>
          </a:p>
          <a:p xmlns:a="http://schemas.openxmlformats.org/drawingml/2006/main">
            <a:r>
              <a:rPr lang="en-US" sz="1400" b="1">
                <a:solidFill>
                  <a:srgbClr val="FFFFFF"/>
                </a:solidFill>
              </a:rPr>
              <a:t>Handlers</a:t>
            </a:r>
          </a:p>
        </p:txBody>
      </p:sp>
      <p:sp>
        <p:nvSpPr>
          <p:cNvPr id="100206" name="M5"/>
          <p:cNvSpPr txBox="1"/>
          <p:nvPr/>
        </p:nvSpPr>
        <p:spPr>
          <a:xfrm xmlns:a="http://schemas.openxmlformats.org/drawingml/2006/main">
            <a:off x="9720000" y="1260000"/>
            <a:ext cx="1800000" cy="1080000"/>
          </a:xfrm>
          <a:prstGeom xmlns:a="http://schemas.openxmlformats.org/drawingml/2006/main" prst="rect">
            <a:avLst/>
          </a:prstGeom>
          <a:solidFill xmlns:a="http://schemas.openxmlformats.org/drawingml/2006/main">
            <a:srgbClr val="24A148"/>
          </a:solidFill>
        </p:spPr>
        <p:txBody>
          <a:bodyPr xmlns:a="http://schemas.openxmlformats.org/drawingml/2006/main"/>
          <a:lstStyle xmlns:a="http://schemas.openxmlformats.org/drawingml/2006/main"/>
          <a:p xmlns:a="http://schemas.openxmlformats.org/drawingml/2006/main">
            <a:r>
              <a:rPr lang="en-US" sz="1400" b="1">
                <a:solidFill>
                  <a:srgbClr val="FFFFFF"/>
                </a:solidFill>
              </a:rPr>
              <a:t>9 / 9</a:t>
            </a:r>
          </a:p>
          <a:p xmlns:a="http://schemas.openxmlformats.org/drawingml/2006/main">
            <a:r>
              <a:rPr lang="en-US" sz="1400" b="1">
                <a:solidFill>
                  <a:srgbClr val="FFFFFF"/>
                </a:solidFill>
              </a:rPr>
              <a:t>Tests</a:t>
            </a:r>
          </a:p>
          <a:p xmlns:a="http://schemas.openxmlformats.org/drawingml/2006/main">
            <a:r>
              <a:rPr lang="en-US" sz="1400" b="1">
                <a:solidFill>
                  <a:srgbClr val="FFFFFF"/>
                </a:solidFill>
              </a:rPr>
              <a:t>Passed</a:t>
            </a:r>
          </a:p>
        </p:txBody>
      </p:sp>
      <p:sp>
        <p:nvSpPr>
          <p:cNvPr id="100207" name="AccHead"/>
          <p:cNvSpPr txBox="1"/>
          <p:nvPr/>
        </p:nvSpPr>
        <p:spPr>
          <a:xfrm xmlns:a="http://schemas.openxmlformats.org/drawingml/2006/main">
            <a:off x="540000" y="2628000"/>
            <a:ext cx="10800000" cy="1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0F62FE"/>
                </a:solidFill>
              </a:rPr>
              <a:t>ACCOMPLISHMENTS</a:t>
            </a:r>
          </a:p>
        </p:txBody>
      </p:sp>
      <p:sp>
        <p:nvSpPr>
          <p:cNvPr id="100208" name="Acc"/>
          <p:cNvSpPr txBox="1"/>
          <p:nvPr/>
        </p:nvSpPr>
        <p:spPr>
          <a:xfrm xmlns:a="http://schemas.openxmlformats.org/drawingml/2006/main">
            <a:off x="540000" y="288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B0BEC5"/>
                </a:solidFill>
              </a:rPr>
              <a:t>[OK]  Full Agentic AI SDLC followed — all 6 phases documented and implemented</a:t>
            </a:r>
          </a:p>
          <a:p xmlns:a="http://schemas.openxmlformats.org/drawingml/2006/main">
            <a:r>
              <a:rPr lang="en-US" sz="1300">
                <a:solidFill>
                  <a:srgbClr val="B0BEC5"/>
                </a:solidFill>
              </a:rPr>
              <a:t>[OK]  IBM Granite Agentic AI engine with 4-phase loop: Perceive -&gt; Plan -&gt; Act -&gt; Reflect</a:t>
            </a:r>
          </a:p>
          <a:p xmlns:a="http://schemas.openxmlformats.org/drawingml/2006/main">
            <a:r>
              <a:rPr lang="en-US" sz="1300">
                <a:solidFill>
                  <a:srgbClr val="B0BEC5"/>
                </a:solidFill>
              </a:rPr>
              <a:t>[OK]  13 intent handlers — skills, projects, education, certifications, contact, trainer, granite...</a:t>
            </a:r>
          </a:p>
          <a:p xmlns:a="http://schemas.openxmlformats.org/drawingml/2006/main">
            <a:r>
              <a:rPr lang="en-US" sz="1300">
                <a:solidFill>
                  <a:srgbClr val="B0BEC5"/>
                </a:solidFill>
              </a:rPr>
              <a:t>[OK]  Node.js proxy server — IBM API key secure, IAM token auto-refreshed</a:t>
            </a:r>
          </a:p>
          <a:p xmlns:a="http://schemas.openxmlformats.org/drawingml/2006/main">
            <a:r>
              <a:rPr lang="en-US" sz="1300">
                <a:solidFill>
                  <a:srgbClr val="B0BEC5"/>
                </a:solidFill>
              </a:rPr>
              <a:t>[OK]  GitHub deployed: https://github.com/NarendraEluri123/Portfolio1</a:t>
            </a:r>
          </a:p>
          <a:p xmlns:a="http://schemas.openxmlformats.org/drawingml/2006/main">
            <a:r>
              <a:rPr lang="en-US" sz="1300">
                <a:solidFill>
                  <a:srgbClr val="B0BEC5"/>
                </a:solidFill>
              </a:rPr>
              <a:t>[OK]  Server health check: HTTP 200  |  apiKey: configured  |  model: granite-13b-chat-v2</a:t>
            </a:r>
          </a:p>
          <a:p xmlns:a="http://schemas.openxmlformats.org/drawingml/2006/main">
            <a:r>
              <a:rPr lang="en-US" sz="1300">
                <a:solidFill>
                  <a:srgbClr val="B0BEC5"/>
                </a:solidFill>
              </a:rPr>
              <a:t>[OK]  .env credentials configured — IBM_PROJECT_ID + IBM_API_KEY + IBM_REGION + PORT</a:t>
            </a:r>
          </a:p>
          <a:p xmlns:a="http://schemas.openxmlformats.org/drawingml/2006/main">
            <a:r>
              <a:rPr lang="en-US" sz="1300">
                <a:solidFill>
                  <a:srgbClr val="B0BEC5"/>
                </a:solidFill>
              </a:rPr>
              <a:t>[OK]  launch_portfolio.bat — 3-mode Windows launcher (direct / Node.js server / status check)</a:t>
            </a:r>
          </a:p>
        </p:txBody>
      </p:sp>
      <p:sp>
        <p:nvSpPr>
          <p:cNvPr id="100209" name="Footer"/>
          <p:cNvSpPr txBox="1"/>
          <p:nvPr/>
        </p:nvSpPr>
        <p:spPr>
          <a:xfrm xmlns:a="http://schemas.openxmlformats.org/drawingml/2006/main">
            <a:off x="540000" y="4500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Yogesh Kumar Portfolio  |  IBM Granite Agentic AI  |  Trainer: Eluri Narendra  |  github.com/NarendraEluri123/Portfolio1</a:t>
            </a:r>
          </a:p>
        </p:txBody>
      </p:sp>
    </p:spTree>
  </p:cSld>
  <p:transition advTm="75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2026-10-27T06:45:35Z</dcterms:created>
  <cp:lastModifiedBy>OfficeCLI</cp:lastModifiedBy>
  <dcterms:modified xsi:type="dcterms:W3CDTF">2026-10-27T06:45:35Z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1.0.158</vt:lpwstr>
  </op:property>
  <op:property fmtid="{D5CDD505-2E9C-101B-9397-08002B2CF9AE}" pid="3" name="OfficeCLI.LastModified">
    <vt:lpwstr xmlns:vt="http://schemas.openxmlformats.org/officeDocument/2006/docPropsVTypes">2026-10-27T06:53:41Z</vt:lpwstr>
  </op:property>
</op:Properties>
</file>